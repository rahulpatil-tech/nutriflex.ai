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2" r:id="rId5"/>
    <p:sldId id="270" r:id="rId6"/>
    <p:sldId id="271" r:id="rId7"/>
    <p:sldId id="273" r:id="rId8"/>
    <p:sldId id="274" r:id="rId9"/>
    <p:sldId id="275" r:id="rId10"/>
    <p:sldId id="283" r:id="rId11"/>
    <p:sldId id="284" r:id="rId12"/>
    <p:sldId id="276" r:id="rId13"/>
    <p:sldId id="277" r:id="rId14"/>
    <p:sldId id="278" r:id="rId15"/>
    <p:sldId id="279" r:id="rId16"/>
    <p:sldId id="280" r:id="rId17"/>
    <p:sldId id="281" r:id="rId18"/>
    <p:sldId id="28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A57AFF-5ADC-417F-811D-48C299D93B98}" v="5" dt="2024-10-03T07:25:45.0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4" Type="http://schemas.openxmlformats.org/officeDocument/2006/relationships/image" Target="../media/image2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4" Type="http://schemas.openxmlformats.org/officeDocument/2006/relationships/image" Target="../media/image2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A283BC-3302-4C81-ACAB-7BABF22CB82A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8E205EFE-6013-48A0-9615-8E41FE0635CC}">
      <dgm:prSet/>
      <dgm:spPr/>
      <dgm:t>
        <a:bodyPr/>
        <a:lstStyle/>
        <a:p>
          <a:pPr>
            <a:defRPr cap="all"/>
          </a:pPr>
          <a:r>
            <a:rPr lang="en-US"/>
            <a:t>Enhanced gamification with badges and social features.</a:t>
          </a:r>
        </a:p>
      </dgm:t>
    </dgm:pt>
    <dgm:pt modelId="{8A5D2E8B-80AA-4495-BE2A-4644664C244F}" type="parTrans" cxnId="{BBB20CD3-2212-4D84-9495-D8057DCAF430}">
      <dgm:prSet/>
      <dgm:spPr/>
      <dgm:t>
        <a:bodyPr/>
        <a:lstStyle/>
        <a:p>
          <a:endParaRPr lang="en-US"/>
        </a:p>
      </dgm:t>
    </dgm:pt>
    <dgm:pt modelId="{5090D3C9-022D-4A45-B50D-4147BFA3FCE9}" type="sibTrans" cxnId="{BBB20CD3-2212-4D84-9495-D8057DCAF430}">
      <dgm:prSet/>
      <dgm:spPr/>
      <dgm:t>
        <a:bodyPr/>
        <a:lstStyle/>
        <a:p>
          <a:endParaRPr lang="en-US"/>
        </a:p>
      </dgm:t>
    </dgm:pt>
    <dgm:pt modelId="{CE808EAA-6793-4F44-A945-0DA32ECB131C}">
      <dgm:prSet/>
      <dgm:spPr/>
      <dgm:t>
        <a:bodyPr/>
        <a:lstStyle/>
        <a:p>
          <a:pPr>
            <a:defRPr cap="all"/>
          </a:pPr>
          <a:r>
            <a:rPr lang="en-US"/>
            <a:t>Integration with wearables and voice assistance.</a:t>
          </a:r>
        </a:p>
      </dgm:t>
    </dgm:pt>
    <dgm:pt modelId="{875343F5-26F8-4756-A72C-277A1A74A654}" type="parTrans" cxnId="{E1CB3898-658A-47BE-B8D5-EE4D440FCDC7}">
      <dgm:prSet/>
      <dgm:spPr/>
      <dgm:t>
        <a:bodyPr/>
        <a:lstStyle/>
        <a:p>
          <a:endParaRPr lang="en-US"/>
        </a:p>
      </dgm:t>
    </dgm:pt>
    <dgm:pt modelId="{9896B8B2-CF6B-4CB7-9AAD-5B69C31D8009}" type="sibTrans" cxnId="{E1CB3898-658A-47BE-B8D5-EE4D440FCDC7}">
      <dgm:prSet/>
      <dgm:spPr/>
      <dgm:t>
        <a:bodyPr/>
        <a:lstStyle/>
        <a:p>
          <a:endParaRPr lang="en-US"/>
        </a:p>
      </dgm:t>
    </dgm:pt>
    <dgm:pt modelId="{E796DB54-21E7-4639-8413-FA2AA9749E79}">
      <dgm:prSet/>
      <dgm:spPr/>
      <dgm:t>
        <a:bodyPr/>
        <a:lstStyle/>
        <a:p>
          <a:pPr>
            <a:defRPr cap="all"/>
          </a:pPr>
          <a:r>
            <a:rPr lang="en-US"/>
            <a:t>Expanded recipe database with local and international options.</a:t>
          </a:r>
        </a:p>
      </dgm:t>
    </dgm:pt>
    <dgm:pt modelId="{8F4F4B6F-291B-442D-8B19-63ED3B365DA8}" type="parTrans" cxnId="{5078C56B-B0A6-494E-8A4F-E9592C2EF47D}">
      <dgm:prSet/>
      <dgm:spPr/>
      <dgm:t>
        <a:bodyPr/>
        <a:lstStyle/>
        <a:p>
          <a:endParaRPr lang="en-US"/>
        </a:p>
      </dgm:t>
    </dgm:pt>
    <dgm:pt modelId="{03E60385-132B-4FD4-B167-15A357F96627}" type="sibTrans" cxnId="{5078C56B-B0A6-494E-8A4F-E9592C2EF47D}">
      <dgm:prSet/>
      <dgm:spPr/>
      <dgm:t>
        <a:bodyPr/>
        <a:lstStyle/>
        <a:p>
          <a:endParaRPr lang="en-US"/>
        </a:p>
      </dgm:t>
    </dgm:pt>
    <dgm:pt modelId="{BCFD47F4-E0E0-4F91-A9F0-92176325641B}">
      <dgm:prSet/>
      <dgm:spPr/>
      <dgm:t>
        <a:bodyPr/>
        <a:lstStyle/>
        <a:p>
          <a:pPr>
            <a:defRPr cap="all"/>
          </a:pPr>
          <a:r>
            <a:rPr lang="en-US"/>
            <a:t>Inclusion of dietary preferences and allergies in meal plans.</a:t>
          </a:r>
        </a:p>
      </dgm:t>
    </dgm:pt>
    <dgm:pt modelId="{9C15D76A-217F-4AA2-819D-EE0D77A477C3}" type="parTrans" cxnId="{6E76A5F2-F46F-436D-9AB4-7B0DD923418F}">
      <dgm:prSet/>
      <dgm:spPr/>
      <dgm:t>
        <a:bodyPr/>
        <a:lstStyle/>
        <a:p>
          <a:endParaRPr lang="en-US"/>
        </a:p>
      </dgm:t>
    </dgm:pt>
    <dgm:pt modelId="{E81CDA6C-3DE6-47A2-8A20-9458D2374330}" type="sibTrans" cxnId="{6E76A5F2-F46F-436D-9AB4-7B0DD923418F}">
      <dgm:prSet/>
      <dgm:spPr/>
      <dgm:t>
        <a:bodyPr/>
        <a:lstStyle/>
        <a:p>
          <a:endParaRPr lang="en-US"/>
        </a:p>
      </dgm:t>
    </dgm:pt>
    <dgm:pt modelId="{3A980F09-6F04-454C-9849-F82E0573E85F}" type="pres">
      <dgm:prSet presAssocID="{16A283BC-3302-4C81-ACAB-7BABF22CB82A}" presName="root" presStyleCnt="0">
        <dgm:presLayoutVars>
          <dgm:dir/>
          <dgm:resizeHandles val="exact"/>
        </dgm:presLayoutVars>
      </dgm:prSet>
      <dgm:spPr/>
    </dgm:pt>
    <dgm:pt modelId="{882D6C16-7157-4611-8529-7167A91973E3}" type="pres">
      <dgm:prSet presAssocID="{8E205EFE-6013-48A0-9615-8E41FE0635CC}" presName="compNode" presStyleCnt="0"/>
      <dgm:spPr/>
    </dgm:pt>
    <dgm:pt modelId="{401C32DF-98BD-4C61-9876-1B243F2264D5}" type="pres">
      <dgm:prSet presAssocID="{8E205EFE-6013-48A0-9615-8E41FE0635CC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21175066-01FD-4DF2-AFE8-9CEF2A517FB3}" type="pres">
      <dgm:prSet presAssocID="{8E205EFE-6013-48A0-9615-8E41FE0635C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3A527A30-339E-4852-8FEF-A2660DA72377}" type="pres">
      <dgm:prSet presAssocID="{8E205EFE-6013-48A0-9615-8E41FE0635CC}" presName="spaceRect" presStyleCnt="0"/>
      <dgm:spPr/>
    </dgm:pt>
    <dgm:pt modelId="{D4642643-3657-4167-97DA-E2691D3BD8E2}" type="pres">
      <dgm:prSet presAssocID="{8E205EFE-6013-48A0-9615-8E41FE0635CC}" presName="textRect" presStyleLbl="revTx" presStyleIdx="0" presStyleCnt="4">
        <dgm:presLayoutVars>
          <dgm:chMax val="1"/>
          <dgm:chPref val="1"/>
        </dgm:presLayoutVars>
      </dgm:prSet>
      <dgm:spPr/>
    </dgm:pt>
    <dgm:pt modelId="{A80EF214-2AD4-4FAC-BBF6-872F5CCA0989}" type="pres">
      <dgm:prSet presAssocID="{5090D3C9-022D-4A45-B50D-4147BFA3FCE9}" presName="sibTrans" presStyleCnt="0"/>
      <dgm:spPr/>
    </dgm:pt>
    <dgm:pt modelId="{0FC550B9-3EF3-48FE-8733-91B8D290D8F2}" type="pres">
      <dgm:prSet presAssocID="{CE808EAA-6793-4F44-A945-0DA32ECB131C}" presName="compNode" presStyleCnt="0"/>
      <dgm:spPr/>
    </dgm:pt>
    <dgm:pt modelId="{F69642F6-B2CA-4BC4-9ABB-6A6E6CDC47C7}" type="pres">
      <dgm:prSet presAssocID="{CE808EAA-6793-4F44-A945-0DA32ECB131C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8476BFB5-1C1F-4CF7-ADC2-DFDAA73A6003}" type="pres">
      <dgm:prSet presAssocID="{CE808EAA-6793-4F44-A945-0DA32ECB131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ech"/>
        </a:ext>
      </dgm:extLst>
    </dgm:pt>
    <dgm:pt modelId="{5E32811C-C5E3-4A98-9125-9E3121D745C6}" type="pres">
      <dgm:prSet presAssocID="{CE808EAA-6793-4F44-A945-0DA32ECB131C}" presName="spaceRect" presStyleCnt="0"/>
      <dgm:spPr/>
    </dgm:pt>
    <dgm:pt modelId="{8548F78F-2E30-43F3-9702-AE038A394EB6}" type="pres">
      <dgm:prSet presAssocID="{CE808EAA-6793-4F44-A945-0DA32ECB131C}" presName="textRect" presStyleLbl="revTx" presStyleIdx="1" presStyleCnt="4">
        <dgm:presLayoutVars>
          <dgm:chMax val="1"/>
          <dgm:chPref val="1"/>
        </dgm:presLayoutVars>
      </dgm:prSet>
      <dgm:spPr/>
    </dgm:pt>
    <dgm:pt modelId="{010F6152-7BC0-43A4-B39B-AA90BF31A62A}" type="pres">
      <dgm:prSet presAssocID="{9896B8B2-CF6B-4CB7-9AAD-5B69C31D8009}" presName="sibTrans" presStyleCnt="0"/>
      <dgm:spPr/>
    </dgm:pt>
    <dgm:pt modelId="{58947E68-8772-42C4-9195-A1F99A25BA6A}" type="pres">
      <dgm:prSet presAssocID="{E796DB54-21E7-4639-8413-FA2AA9749E79}" presName="compNode" presStyleCnt="0"/>
      <dgm:spPr/>
    </dgm:pt>
    <dgm:pt modelId="{A3895C13-71B5-42A0-80F3-EC0DED8A921F}" type="pres">
      <dgm:prSet presAssocID="{E796DB54-21E7-4639-8413-FA2AA9749E79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F7AE782A-7242-4B2C-9501-DD69A4295B71}" type="pres">
      <dgm:prSet presAssocID="{E796DB54-21E7-4639-8413-FA2AA9749E7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f"/>
        </a:ext>
      </dgm:extLst>
    </dgm:pt>
    <dgm:pt modelId="{D4D5A28F-F351-4001-AB73-E84A5DAAB698}" type="pres">
      <dgm:prSet presAssocID="{E796DB54-21E7-4639-8413-FA2AA9749E79}" presName="spaceRect" presStyleCnt="0"/>
      <dgm:spPr/>
    </dgm:pt>
    <dgm:pt modelId="{2674C0EF-8C62-4B7F-9126-A9682CA384ED}" type="pres">
      <dgm:prSet presAssocID="{E796DB54-21E7-4639-8413-FA2AA9749E79}" presName="textRect" presStyleLbl="revTx" presStyleIdx="2" presStyleCnt="4">
        <dgm:presLayoutVars>
          <dgm:chMax val="1"/>
          <dgm:chPref val="1"/>
        </dgm:presLayoutVars>
      </dgm:prSet>
      <dgm:spPr/>
    </dgm:pt>
    <dgm:pt modelId="{9FA1C5D8-B98D-4CBE-B495-0C045CE6164E}" type="pres">
      <dgm:prSet presAssocID="{03E60385-132B-4FD4-B167-15A357F96627}" presName="sibTrans" presStyleCnt="0"/>
      <dgm:spPr/>
    </dgm:pt>
    <dgm:pt modelId="{D7DEF8FA-DF31-424A-A82F-3542E5BA4EEA}" type="pres">
      <dgm:prSet presAssocID="{BCFD47F4-E0E0-4F91-A9F0-92176325641B}" presName="compNode" presStyleCnt="0"/>
      <dgm:spPr/>
    </dgm:pt>
    <dgm:pt modelId="{DF696E58-9430-4329-A092-77517BF3500B}" type="pres">
      <dgm:prSet presAssocID="{BCFD47F4-E0E0-4F91-A9F0-92176325641B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60C6D041-330C-41F9-889A-791F34605DAA}" type="pres">
      <dgm:prSet presAssocID="{BCFD47F4-E0E0-4F91-A9F0-92176325641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k and knife"/>
        </a:ext>
      </dgm:extLst>
    </dgm:pt>
    <dgm:pt modelId="{DEB0D016-5B12-4A6A-8A6C-D66D00504514}" type="pres">
      <dgm:prSet presAssocID="{BCFD47F4-E0E0-4F91-A9F0-92176325641B}" presName="spaceRect" presStyleCnt="0"/>
      <dgm:spPr/>
    </dgm:pt>
    <dgm:pt modelId="{FAD96F28-50CB-4021-885E-34CE66E7298A}" type="pres">
      <dgm:prSet presAssocID="{BCFD47F4-E0E0-4F91-A9F0-92176325641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803C104-BB9F-4D28-B0EC-DC3A176316D5}" type="presOf" srcId="{BCFD47F4-E0E0-4F91-A9F0-92176325641B}" destId="{FAD96F28-50CB-4021-885E-34CE66E7298A}" srcOrd="0" destOrd="0" presId="urn:microsoft.com/office/officeart/2018/5/layout/IconLeafLabelList"/>
    <dgm:cxn modelId="{0E05B307-83DD-410D-A11F-D8FAA92BB329}" type="presOf" srcId="{8E205EFE-6013-48A0-9615-8E41FE0635CC}" destId="{D4642643-3657-4167-97DA-E2691D3BD8E2}" srcOrd="0" destOrd="0" presId="urn:microsoft.com/office/officeart/2018/5/layout/IconLeafLabelList"/>
    <dgm:cxn modelId="{4B66AC17-74F0-4A17-A4CC-1B884A796516}" type="presOf" srcId="{E796DB54-21E7-4639-8413-FA2AA9749E79}" destId="{2674C0EF-8C62-4B7F-9126-A9682CA384ED}" srcOrd="0" destOrd="0" presId="urn:microsoft.com/office/officeart/2018/5/layout/IconLeafLabelList"/>
    <dgm:cxn modelId="{7830944A-ACB3-40FF-976C-189CED008AB1}" type="presOf" srcId="{16A283BC-3302-4C81-ACAB-7BABF22CB82A}" destId="{3A980F09-6F04-454C-9849-F82E0573E85F}" srcOrd="0" destOrd="0" presId="urn:microsoft.com/office/officeart/2018/5/layout/IconLeafLabelList"/>
    <dgm:cxn modelId="{5078C56B-B0A6-494E-8A4F-E9592C2EF47D}" srcId="{16A283BC-3302-4C81-ACAB-7BABF22CB82A}" destId="{E796DB54-21E7-4639-8413-FA2AA9749E79}" srcOrd="2" destOrd="0" parTransId="{8F4F4B6F-291B-442D-8B19-63ED3B365DA8}" sibTransId="{03E60385-132B-4FD4-B167-15A357F96627}"/>
    <dgm:cxn modelId="{E1CB3898-658A-47BE-B8D5-EE4D440FCDC7}" srcId="{16A283BC-3302-4C81-ACAB-7BABF22CB82A}" destId="{CE808EAA-6793-4F44-A945-0DA32ECB131C}" srcOrd="1" destOrd="0" parTransId="{875343F5-26F8-4756-A72C-277A1A74A654}" sibTransId="{9896B8B2-CF6B-4CB7-9AAD-5B69C31D8009}"/>
    <dgm:cxn modelId="{BBB20CD3-2212-4D84-9495-D8057DCAF430}" srcId="{16A283BC-3302-4C81-ACAB-7BABF22CB82A}" destId="{8E205EFE-6013-48A0-9615-8E41FE0635CC}" srcOrd="0" destOrd="0" parTransId="{8A5D2E8B-80AA-4495-BE2A-4644664C244F}" sibTransId="{5090D3C9-022D-4A45-B50D-4147BFA3FCE9}"/>
    <dgm:cxn modelId="{01B3E5F0-2ECD-4570-809D-988CBBF0A412}" type="presOf" srcId="{CE808EAA-6793-4F44-A945-0DA32ECB131C}" destId="{8548F78F-2E30-43F3-9702-AE038A394EB6}" srcOrd="0" destOrd="0" presId="urn:microsoft.com/office/officeart/2018/5/layout/IconLeafLabelList"/>
    <dgm:cxn modelId="{6E76A5F2-F46F-436D-9AB4-7B0DD923418F}" srcId="{16A283BC-3302-4C81-ACAB-7BABF22CB82A}" destId="{BCFD47F4-E0E0-4F91-A9F0-92176325641B}" srcOrd="3" destOrd="0" parTransId="{9C15D76A-217F-4AA2-819D-EE0D77A477C3}" sibTransId="{E81CDA6C-3DE6-47A2-8A20-9458D2374330}"/>
    <dgm:cxn modelId="{02B2997B-D926-4883-9796-5878DCD0B6AE}" type="presParOf" srcId="{3A980F09-6F04-454C-9849-F82E0573E85F}" destId="{882D6C16-7157-4611-8529-7167A91973E3}" srcOrd="0" destOrd="0" presId="urn:microsoft.com/office/officeart/2018/5/layout/IconLeafLabelList"/>
    <dgm:cxn modelId="{E5B3D660-F23A-4223-9C7B-527FD64EB8CD}" type="presParOf" srcId="{882D6C16-7157-4611-8529-7167A91973E3}" destId="{401C32DF-98BD-4C61-9876-1B243F2264D5}" srcOrd="0" destOrd="0" presId="urn:microsoft.com/office/officeart/2018/5/layout/IconLeafLabelList"/>
    <dgm:cxn modelId="{AF1CFB25-5380-4F0F-87B5-72ED85A3C237}" type="presParOf" srcId="{882D6C16-7157-4611-8529-7167A91973E3}" destId="{21175066-01FD-4DF2-AFE8-9CEF2A517FB3}" srcOrd="1" destOrd="0" presId="urn:microsoft.com/office/officeart/2018/5/layout/IconLeafLabelList"/>
    <dgm:cxn modelId="{CD74D621-70D9-41B4-BB9D-677E964DB9BD}" type="presParOf" srcId="{882D6C16-7157-4611-8529-7167A91973E3}" destId="{3A527A30-339E-4852-8FEF-A2660DA72377}" srcOrd="2" destOrd="0" presId="urn:microsoft.com/office/officeart/2018/5/layout/IconLeafLabelList"/>
    <dgm:cxn modelId="{FD18F7C2-6072-4E65-8D14-DBB59481764A}" type="presParOf" srcId="{882D6C16-7157-4611-8529-7167A91973E3}" destId="{D4642643-3657-4167-97DA-E2691D3BD8E2}" srcOrd="3" destOrd="0" presId="urn:microsoft.com/office/officeart/2018/5/layout/IconLeafLabelList"/>
    <dgm:cxn modelId="{E5F58B3B-B19A-402E-B3CE-0DF4B786563B}" type="presParOf" srcId="{3A980F09-6F04-454C-9849-F82E0573E85F}" destId="{A80EF214-2AD4-4FAC-BBF6-872F5CCA0989}" srcOrd="1" destOrd="0" presId="urn:microsoft.com/office/officeart/2018/5/layout/IconLeafLabelList"/>
    <dgm:cxn modelId="{2AEF8043-A298-44BD-A3A6-5449B2537AD7}" type="presParOf" srcId="{3A980F09-6F04-454C-9849-F82E0573E85F}" destId="{0FC550B9-3EF3-48FE-8733-91B8D290D8F2}" srcOrd="2" destOrd="0" presId="urn:microsoft.com/office/officeart/2018/5/layout/IconLeafLabelList"/>
    <dgm:cxn modelId="{1DD71568-98E4-4FE3-9997-BC4C86A770FA}" type="presParOf" srcId="{0FC550B9-3EF3-48FE-8733-91B8D290D8F2}" destId="{F69642F6-B2CA-4BC4-9ABB-6A6E6CDC47C7}" srcOrd="0" destOrd="0" presId="urn:microsoft.com/office/officeart/2018/5/layout/IconLeafLabelList"/>
    <dgm:cxn modelId="{2D7C81F2-DCBE-49CB-8064-60C3058D7549}" type="presParOf" srcId="{0FC550B9-3EF3-48FE-8733-91B8D290D8F2}" destId="{8476BFB5-1C1F-4CF7-ADC2-DFDAA73A6003}" srcOrd="1" destOrd="0" presId="urn:microsoft.com/office/officeart/2018/5/layout/IconLeafLabelList"/>
    <dgm:cxn modelId="{66219096-D153-4D96-8C6F-6BCBF6E0AB1D}" type="presParOf" srcId="{0FC550B9-3EF3-48FE-8733-91B8D290D8F2}" destId="{5E32811C-C5E3-4A98-9125-9E3121D745C6}" srcOrd="2" destOrd="0" presId="urn:microsoft.com/office/officeart/2018/5/layout/IconLeafLabelList"/>
    <dgm:cxn modelId="{46F02F11-9D13-49BA-B5A8-92EA221808BA}" type="presParOf" srcId="{0FC550B9-3EF3-48FE-8733-91B8D290D8F2}" destId="{8548F78F-2E30-43F3-9702-AE038A394EB6}" srcOrd="3" destOrd="0" presId="urn:microsoft.com/office/officeart/2018/5/layout/IconLeafLabelList"/>
    <dgm:cxn modelId="{5B80A742-AA18-4E52-9A93-E453D80A15C5}" type="presParOf" srcId="{3A980F09-6F04-454C-9849-F82E0573E85F}" destId="{010F6152-7BC0-43A4-B39B-AA90BF31A62A}" srcOrd="3" destOrd="0" presId="urn:microsoft.com/office/officeart/2018/5/layout/IconLeafLabelList"/>
    <dgm:cxn modelId="{DD2964F4-BCE4-4655-A264-313AE1A013D6}" type="presParOf" srcId="{3A980F09-6F04-454C-9849-F82E0573E85F}" destId="{58947E68-8772-42C4-9195-A1F99A25BA6A}" srcOrd="4" destOrd="0" presId="urn:microsoft.com/office/officeart/2018/5/layout/IconLeafLabelList"/>
    <dgm:cxn modelId="{31C13A40-9323-4241-B88E-46F96F8A2EEA}" type="presParOf" srcId="{58947E68-8772-42C4-9195-A1F99A25BA6A}" destId="{A3895C13-71B5-42A0-80F3-EC0DED8A921F}" srcOrd="0" destOrd="0" presId="urn:microsoft.com/office/officeart/2018/5/layout/IconLeafLabelList"/>
    <dgm:cxn modelId="{E234C8CD-B063-45EF-B30F-4DCF54374EEB}" type="presParOf" srcId="{58947E68-8772-42C4-9195-A1F99A25BA6A}" destId="{F7AE782A-7242-4B2C-9501-DD69A4295B71}" srcOrd="1" destOrd="0" presId="urn:microsoft.com/office/officeart/2018/5/layout/IconLeafLabelList"/>
    <dgm:cxn modelId="{BF6CAE15-16F3-4457-BA71-EC421BE85981}" type="presParOf" srcId="{58947E68-8772-42C4-9195-A1F99A25BA6A}" destId="{D4D5A28F-F351-4001-AB73-E84A5DAAB698}" srcOrd="2" destOrd="0" presId="urn:microsoft.com/office/officeart/2018/5/layout/IconLeafLabelList"/>
    <dgm:cxn modelId="{3BDD8702-F73B-4C4C-A64A-8D74E52A0415}" type="presParOf" srcId="{58947E68-8772-42C4-9195-A1F99A25BA6A}" destId="{2674C0EF-8C62-4B7F-9126-A9682CA384ED}" srcOrd="3" destOrd="0" presId="urn:microsoft.com/office/officeart/2018/5/layout/IconLeafLabelList"/>
    <dgm:cxn modelId="{9C056681-0C6A-4F29-8327-CF8663A079CC}" type="presParOf" srcId="{3A980F09-6F04-454C-9849-F82E0573E85F}" destId="{9FA1C5D8-B98D-4CBE-B495-0C045CE6164E}" srcOrd="5" destOrd="0" presId="urn:microsoft.com/office/officeart/2018/5/layout/IconLeafLabelList"/>
    <dgm:cxn modelId="{00A18B9B-13D1-4BA2-8882-9C8CC124399C}" type="presParOf" srcId="{3A980F09-6F04-454C-9849-F82E0573E85F}" destId="{D7DEF8FA-DF31-424A-A82F-3542E5BA4EEA}" srcOrd="6" destOrd="0" presId="urn:microsoft.com/office/officeart/2018/5/layout/IconLeafLabelList"/>
    <dgm:cxn modelId="{6D068107-A908-4BB1-86B7-C2ABAB118DC5}" type="presParOf" srcId="{D7DEF8FA-DF31-424A-A82F-3542E5BA4EEA}" destId="{DF696E58-9430-4329-A092-77517BF3500B}" srcOrd="0" destOrd="0" presId="urn:microsoft.com/office/officeart/2018/5/layout/IconLeafLabelList"/>
    <dgm:cxn modelId="{ABE90A5A-B3EE-4FBA-9963-6B06C7B04AC6}" type="presParOf" srcId="{D7DEF8FA-DF31-424A-A82F-3542E5BA4EEA}" destId="{60C6D041-330C-41F9-889A-791F34605DAA}" srcOrd="1" destOrd="0" presId="urn:microsoft.com/office/officeart/2018/5/layout/IconLeafLabelList"/>
    <dgm:cxn modelId="{4F63CA78-6988-4E6C-8C96-1C1573448D8C}" type="presParOf" srcId="{D7DEF8FA-DF31-424A-A82F-3542E5BA4EEA}" destId="{DEB0D016-5B12-4A6A-8A6C-D66D00504514}" srcOrd="2" destOrd="0" presId="urn:microsoft.com/office/officeart/2018/5/layout/IconLeafLabelList"/>
    <dgm:cxn modelId="{9CD5DD4A-FB35-4CC7-B6AE-46C83E53045A}" type="presParOf" srcId="{D7DEF8FA-DF31-424A-A82F-3542E5BA4EEA}" destId="{FAD96F28-50CB-4021-885E-34CE66E7298A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0B055D3-23CB-4A8B-BC37-D767DC39FAC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1105BE5-BD34-4726-A728-4E31428A32A6}">
      <dgm:prSet/>
      <dgm:spPr/>
      <dgm:t>
        <a:bodyPr/>
        <a:lstStyle/>
        <a:p>
          <a:r>
            <a:rPr lang="en-US"/>
            <a:t>NUTRIFLEX offers an innovative solution for personalized nutrition through AI and user engagement.</a:t>
          </a:r>
        </a:p>
      </dgm:t>
    </dgm:pt>
    <dgm:pt modelId="{BFFB100D-689F-484D-8D48-AC701ED7D02B}" type="parTrans" cxnId="{FFD1ACFA-65DC-48C8-9D32-FC3D811EF2A1}">
      <dgm:prSet/>
      <dgm:spPr/>
      <dgm:t>
        <a:bodyPr/>
        <a:lstStyle/>
        <a:p>
          <a:endParaRPr lang="en-US"/>
        </a:p>
      </dgm:t>
    </dgm:pt>
    <dgm:pt modelId="{16806035-B02C-4250-BA48-2A8D38F87C66}" type="sibTrans" cxnId="{FFD1ACFA-65DC-48C8-9D32-FC3D811EF2A1}">
      <dgm:prSet/>
      <dgm:spPr/>
      <dgm:t>
        <a:bodyPr/>
        <a:lstStyle/>
        <a:p>
          <a:endParaRPr lang="en-US"/>
        </a:p>
      </dgm:t>
    </dgm:pt>
    <dgm:pt modelId="{1FEDB9C7-B078-4EE0-993C-2C017D0BF9BB}">
      <dgm:prSet/>
      <dgm:spPr/>
      <dgm:t>
        <a:bodyPr/>
        <a:lstStyle/>
        <a:p>
          <a:r>
            <a:rPr lang="en-US"/>
            <a:t>Future iterations will further enhance functionality, making the app more interactive and tailored to individual needs.</a:t>
          </a:r>
        </a:p>
      </dgm:t>
    </dgm:pt>
    <dgm:pt modelId="{97D28FE7-C981-454D-945B-7B93E2A8E549}" type="parTrans" cxnId="{3165B551-9253-4F16-8D68-EED7F746233B}">
      <dgm:prSet/>
      <dgm:spPr/>
      <dgm:t>
        <a:bodyPr/>
        <a:lstStyle/>
        <a:p>
          <a:endParaRPr lang="en-US"/>
        </a:p>
      </dgm:t>
    </dgm:pt>
    <dgm:pt modelId="{5C714DAB-CFA3-46FE-97BF-1AAAF7EFEE12}" type="sibTrans" cxnId="{3165B551-9253-4F16-8D68-EED7F746233B}">
      <dgm:prSet/>
      <dgm:spPr/>
      <dgm:t>
        <a:bodyPr/>
        <a:lstStyle/>
        <a:p>
          <a:endParaRPr lang="en-US"/>
        </a:p>
      </dgm:t>
    </dgm:pt>
    <dgm:pt modelId="{50EC0E88-32BE-493D-AC52-FAFA1F23BA42}" type="pres">
      <dgm:prSet presAssocID="{60B055D3-23CB-4A8B-BC37-D767DC39FAC1}" presName="root" presStyleCnt="0">
        <dgm:presLayoutVars>
          <dgm:dir/>
          <dgm:resizeHandles val="exact"/>
        </dgm:presLayoutVars>
      </dgm:prSet>
      <dgm:spPr/>
    </dgm:pt>
    <dgm:pt modelId="{799E6B12-3BED-4A02-AEC2-F424E60E0E5F}" type="pres">
      <dgm:prSet presAssocID="{41105BE5-BD34-4726-A728-4E31428A32A6}" presName="compNode" presStyleCnt="0"/>
      <dgm:spPr/>
    </dgm:pt>
    <dgm:pt modelId="{B519D117-6511-4A33-BCC2-B49D631A7099}" type="pres">
      <dgm:prSet presAssocID="{41105BE5-BD34-4726-A728-4E31428A32A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A1E93BFB-15A3-4C0A-83EA-01AAE1228915}" type="pres">
      <dgm:prSet presAssocID="{41105BE5-BD34-4726-A728-4E31428A32A6}" presName="spaceRect" presStyleCnt="0"/>
      <dgm:spPr/>
    </dgm:pt>
    <dgm:pt modelId="{241835A5-7068-48C6-BBE4-E9C5159BF7D1}" type="pres">
      <dgm:prSet presAssocID="{41105BE5-BD34-4726-A728-4E31428A32A6}" presName="textRect" presStyleLbl="revTx" presStyleIdx="0" presStyleCnt="2">
        <dgm:presLayoutVars>
          <dgm:chMax val="1"/>
          <dgm:chPref val="1"/>
        </dgm:presLayoutVars>
      </dgm:prSet>
      <dgm:spPr/>
    </dgm:pt>
    <dgm:pt modelId="{6022CC0C-7809-4EE6-8B7F-AD3E33222E98}" type="pres">
      <dgm:prSet presAssocID="{16806035-B02C-4250-BA48-2A8D38F87C66}" presName="sibTrans" presStyleCnt="0"/>
      <dgm:spPr/>
    </dgm:pt>
    <dgm:pt modelId="{7C34718E-D2E7-40F7-AFFF-B3C13DF8D0E3}" type="pres">
      <dgm:prSet presAssocID="{1FEDB9C7-B078-4EE0-993C-2C017D0BF9BB}" presName="compNode" presStyleCnt="0"/>
      <dgm:spPr/>
    </dgm:pt>
    <dgm:pt modelId="{C74A130F-C1EE-46BC-921E-BD9289690ED5}" type="pres">
      <dgm:prSet presAssocID="{1FEDB9C7-B078-4EE0-993C-2C017D0BF9B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68E152D3-1DB1-4001-B1F3-DA2B946EA79C}" type="pres">
      <dgm:prSet presAssocID="{1FEDB9C7-B078-4EE0-993C-2C017D0BF9BB}" presName="spaceRect" presStyleCnt="0"/>
      <dgm:spPr/>
    </dgm:pt>
    <dgm:pt modelId="{D6D1A4A4-BCE9-4414-B544-C0C0AB97006D}" type="pres">
      <dgm:prSet presAssocID="{1FEDB9C7-B078-4EE0-993C-2C017D0BF9BB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22FFC50B-5B12-4D5B-B13D-4610C2A07D45}" type="presOf" srcId="{1FEDB9C7-B078-4EE0-993C-2C017D0BF9BB}" destId="{D6D1A4A4-BCE9-4414-B544-C0C0AB97006D}" srcOrd="0" destOrd="0" presId="urn:microsoft.com/office/officeart/2018/2/layout/IconLabelList"/>
    <dgm:cxn modelId="{8078492E-057B-4A91-94B2-B58CA940AE6E}" type="presOf" srcId="{41105BE5-BD34-4726-A728-4E31428A32A6}" destId="{241835A5-7068-48C6-BBE4-E9C5159BF7D1}" srcOrd="0" destOrd="0" presId="urn:microsoft.com/office/officeart/2018/2/layout/IconLabelList"/>
    <dgm:cxn modelId="{3165B551-9253-4F16-8D68-EED7F746233B}" srcId="{60B055D3-23CB-4A8B-BC37-D767DC39FAC1}" destId="{1FEDB9C7-B078-4EE0-993C-2C017D0BF9BB}" srcOrd="1" destOrd="0" parTransId="{97D28FE7-C981-454D-945B-7B93E2A8E549}" sibTransId="{5C714DAB-CFA3-46FE-97BF-1AAAF7EFEE12}"/>
    <dgm:cxn modelId="{6F4F55CA-12DD-414B-A990-A00909F0EE3D}" type="presOf" srcId="{60B055D3-23CB-4A8B-BC37-D767DC39FAC1}" destId="{50EC0E88-32BE-493D-AC52-FAFA1F23BA42}" srcOrd="0" destOrd="0" presId="urn:microsoft.com/office/officeart/2018/2/layout/IconLabelList"/>
    <dgm:cxn modelId="{FFD1ACFA-65DC-48C8-9D32-FC3D811EF2A1}" srcId="{60B055D3-23CB-4A8B-BC37-D767DC39FAC1}" destId="{41105BE5-BD34-4726-A728-4E31428A32A6}" srcOrd="0" destOrd="0" parTransId="{BFFB100D-689F-484D-8D48-AC701ED7D02B}" sibTransId="{16806035-B02C-4250-BA48-2A8D38F87C66}"/>
    <dgm:cxn modelId="{D0BCF27D-2C97-4AC9-89CF-A310C9937955}" type="presParOf" srcId="{50EC0E88-32BE-493D-AC52-FAFA1F23BA42}" destId="{799E6B12-3BED-4A02-AEC2-F424E60E0E5F}" srcOrd="0" destOrd="0" presId="urn:microsoft.com/office/officeart/2018/2/layout/IconLabelList"/>
    <dgm:cxn modelId="{5A5EAF91-6F86-43AD-898F-900A8374781D}" type="presParOf" srcId="{799E6B12-3BED-4A02-AEC2-F424E60E0E5F}" destId="{B519D117-6511-4A33-BCC2-B49D631A7099}" srcOrd="0" destOrd="0" presId="urn:microsoft.com/office/officeart/2018/2/layout/IconLabelList"/>
    <dgm:cxn modelId="{57801C26-4078-4636-BF85-575AB3703E06}" type="presParOf" srcId="{799E6B12-3BED-4A02-AEC2-F424E60E0E5F}" destId="{A1E93BFB-15A3-4C0A-83EA-01AAE1228915}" srcOrd="1" destOrd="0" presId="urn:microsoft.com/office/officeart/2018/2/layout/IconLabelList"/>
    <dgm:cxn modelId="{03E8795B-BCFB-4D50-94BC-02106DA6F73A}" type="presParOf" srcId="{799E6B12-3BED-4A02-AEC2-F424E60E0E5F}" destId="{241835A5-7068-48C6-BBE4-E9C5159BF7D1}" srcOrd="2" destOrd="0" presId="urn:microsoft.com/office/officeart/2018/2/layout/IconLabelList"/>
    <dgm:cxn modelId="{85C39B75-F6DA-43BA-971F-086377BD1F5D}" type="presParOf" srcId="{50EC0E88-32BE-493D-AC52-FAFA1F23BA42}" destId="{6022CC0C-7809-4EE6-8B7F-AD3E33222E98}" srcOrd="1" destOrd="0" presId="urn:microsoft.com/office/officeart/2018/2/layout/IconLabelList"/>
    <dgm:cxn modelId="{1B507DA0-64D7-49FF-904E-38BF6771734F}" type="presParOf" srcId="{50EC0E88-32BE-493D-AC52-FAFA1F23BA42}" destId="{7C34718E-D2E7-40F7-AFFF-B3C13DF8D0E3}" srcOrd="2" destOrd="0" presId="urn:microsoft.com/office/officeart/2018/2/layout/IconLabelList"/>
    <dgm:cxn modelId="{7922F8E6-9A51-4314-9562-C854644DB319}" type="presParOf" srcId="{7C34718E-D2E7-40F7-AFFF-B3C13DF8D0E3}" destId="{C74A130F-C1EE-46BC-921E-BD9289690ED5}" srcOrd="0" destOrd="0" presId="urn:microsoft.com/office/officeart/2018/2/layout/IconLabelList"/>
    <dgm:cxn modelId="{C9EE20B7-9041-44BB-9DA1-69E91BBE139D}" type="presParOf" srcId="{7C34718E-D2E7-40F7-AFFF-B3C13DF8D0E3}" destId="{68E152D3-1DB1-4001-B1F3-DA2B946EA79C}" srcOrd="1" destOrd="0" presId="urn:microsoft.com/office/officeart/2018/2/layout/IconLabelList"/>
    <dgm:cxn modelId="{394724C8-5332-49DC-9B8F-D52A4B193AA4}" type="presParOf" srcId="{7C34718E-D2E7-40F7-AFFF-B3C13DF8D0E3}" destId="{D6D1A4A4-BCE9-4414-B544-C0C0AB97006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1C32DF-98BD-4C61-9876-1B243F2264D5}">
      <dsp:nvSpPr>
        <dsp:cNvPr id="0" name=""/>
        <dsp:cNvSpPr/>
      </dsp:nvSpPr>
      <dsp:spPr>
        <a:xfrm>
          <a:off x="562927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175066-01FD-4DF2-AFE8-9CEF2A517FB3}">
      <dsp:nvSpPr>
        <dsp:cNvPr id="0" name=""/>
        <dsp:cNvSpPr/>
      </dsp:nvSpPr>
      <dsp:spPr>
        <a:xfrm>
          <a:off x="87109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642643-3657-4167-97DA-E2691D3BD8E2}">
      <dsp:nvSpPr>
        <dsp:cNvPr id="0" name=""/>
        <dsp:cNvSpPr/>
      </dsp:nvSpPr>
      <dsp:spPr>
        <a:xfrm>
          <a:off x="10068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Enhanced gamification with badges and social features.</a:t>
          </a:r>
        </a:p>
      </dsp:txBody>
      <dsp:txXfrm>
        <a:off x="100682" y="2684598"/>
        <a:ext cx="2370489" cy="720000"/>
      </dsp:txXfrm>
    </dsp:sp>
    <dsp:sp modelId="{F69642F6-B2CA-4BC4-9ABB-6A6E6CDC47C7}">
      <dsp:nvSpPr>
        <dsp:cNvPr id="0" name=""/>
        <dsp:cNvSpPr/>
      </dsp:nvSpPr>
      <dsp:spPr>
        <a:xfrm>
          <a:off x="3348252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76BFB5-1C1F-4CF7-ADC2-DFDAA73A6003}">
      <dsp:nvSpPr>
        <dsp:cNvPr id="0" name=""/>
        <dsp:cNvSpPr/>
      </dsp:nvSpPr>
      <dsp:spPr>
        <a:xfrm>
          <a:off x="365641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48F78F-2E30-43F3-9702-AE038A394EB6}">
      <dsp:nvSpPr>
        <dsp:cNvPr id="0" name=""/>
        <dsp:cNvSpPr/>
      </dsp:nvSpPr>
      <dsp:spPr>
        <a:xfrm>
          <a:off x="288600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Integration with wearables and voice assistance.</a:t>
          </a:r>
        </a:p>
      </dsp:txBody>
      <dsp:txXfrm>
        <a:off x="2886007" y="2684598"/>
        <a:ext cx="2370489" cy="720000"/>
      </dsp:txXfrm>
    </dsp:sp>
    <dsp:sp modelId="{A3895C13-71B5-42A0-80F3-EC0DED8A921F}">
      <dsp:nvSpPr>
        <dsp:cNvPr id="0" name=""/>
        <dsp:cNvSpPr/>
      </dsp:nvSpPr>
      <dsp:spPr>
        <a:xfrm>
          <a:off x="6133577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AE782A-7242-4B2C-9501-DD69A4295B71}">
      <dsp:nvSpPr>
        <dsp:cNvPr id="0" name=""/>
        <dsp:cNvSpPr/>
      </dsp:nvSpPr>
      <dsp:spPr>
        <a:xfrm>
          <a:off x="644174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74C0EF-8C62-4B7F-9126-A9682CA384ED}">
      <dsp:nvSpPr>
        <dsp:cNvPr id="0" name=""/>
        <dsp:cNvSpPr/>
      </dsp:nvSpPr>
      <dsp:spPr>
        <a:xfrm>
          <a:off x="567133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Expanded recipe database with local and international options.</a:t>
          </a:r>
        </a:p>
      </dsp:txBody>
      <dsp:txXfrm>
        <a:off x="5671332" y="2684598"/>
        <a:ext cx="2370489" cy="720000"/>
      </dsp:txXfrm>
    </dsp:sp>
    <dsp:sp modelId="{DF696E58-9430-4329-A092-77517BF3500B}">
      <dsp:nvSpPr>
        <dsp:cNvPr id="0" name=""/>
        <dsp:cNvSpPr/>
      </dsp:nvSpPr>
      <dsp:spPr>
        <a:xfrm>
          <a:off x="8918902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C6D041-330C-41F9-889A-791F34605DAA}">
      <dsp:nvSpPr>
        <dsp:cNvPr id="0" name=""/>
        <dsp:cNvSpPr/>
      </dsp:nvSpPr>
      <dsp:spPr>
        <a:xfrm>
          <a:off x="922706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D96F28-50CB-4021-885E-34CE66E7298A}">
      <dsp:nvSpPr>
        <dsp:cNvPr id="0" name=""/>
        <dsp:cNvSpPr/>
      </dsp:nvSpPr>
      <dsp:spPr>
        <a:xfrm>
          <a:off x="845665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Inclusion of dietary preferences and allergies in meal plans.</a:t>
          </a:r>
        </a:p>
      </dsp:txBody>
      <dsp:txXfrm>
        <a:off x="8456657" y="2684598"/>
        <a:ext cx="2370489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19D117-6511-4A33-BCC2-B49D631A7099}">
      <dsp:nvSpPr>
        <dsp:cNvPr id="0" name=""/>
        <dsp:cNvSpPr/>
      </dsp:nvSpPr>
      <dsp:spPr>
        <a:xfrm>
          <a:off x="1953914" y="529294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1835A5-7068-48C6-BBE4-E9C5159BF7D1}">
      <dsp:nvSpPr>
        <dsp:cNvPr id="0" name=""/>
        <dsp:cNvSpPr/>
      </dsp:nvSpPr>
      <dsp:spPr>
        <a:xfrm>
          <a:off x="765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NUTRIFLEX offers an innovative solution for personalized nutrition through AI and user engagement.</a:t>
          </a:r>
        </a:p>
      </dsp:txBody>
      <dsp:txXfrm>
        <a:off x="765914" y="2943510"/>
        <a:ext cx="4320000" cy="720000"/>
      </dsp:txXfrm>
    </dsp:sp>
    <dsp:sp modelId="{C74A130F-C1EE-46BC-921E-BD9289690ED5}">
      <dsp:nvSpPr>
        <dsp:cNvPr id="0" name=""/>
        <dsp:cNvSpPr/>
      </dsp:nvSpPr>
      <dsp:spPr>
        <a:xfrm>
          <a:off x="7029914" y="529294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D1A4A4-BCE9-4414-B544-C0C0AB97006D}">
      <dsp:nvSpPr>
        <dsp:cNvPr id="0" name=""/>
        <dsp:cNvSpPr/>
      </dsp:nvSpPr>
      <dsp:spPr>
        <a:xfrm>
          <a:off x="5841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Future iterations will further enhance functionality, making the app more interactive and tailored to individual needs.</a:t>
          </a:r>
        </a:p>
      </dsp:txBody>
      <dsp:txXfrm>
        <a:off x="5841914" y="2943510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E2CA4-32AB-33AF-372C-AF075E1B40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DCA50D-F7F8-E234-4608-252670B7E1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93B5A-5ED6-1D54-DA2A-4749A9E9F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91CDA-7F1E-4662-912C-1B63FE7CBB16}" type="datetimeFigureOut">
              <a:rPr lang="en-US" smtClean="0"/>
              <a:t>17-Oct-24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3BAA2-AFC3-0531-30BC-EDF88670F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5F99B-F8FB-4E71-8612-0BF76F261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2CAA4-18BB-42C9-8425-24900DAA4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38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A2495-4B9F-ABB0-3593-F487FF053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113DB-4B95-F1BC-91B2-57671ED90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78288-AE37-685E-4B13-7AF853861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91CDA-7F1E-4662-912C-1B63FE7CBB16}" type="datetimeFigureOut">
              <a:rPr lang="en-US" smtClean="0"/>
              <a:t>17-Oct-24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3166F-9187-2593-DA5B-1731C961E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319CF-5FE1-049E-04DB-48AB1BD67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2CAA4-18BB-42C9-8425-24900DAA4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343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557AD-2A62-30D7-9DEB-9EB9D4759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E49CE5-33C7-97A4-9225-C1E0BF53B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17222-DB9F-AA41-542C-80EFF376F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91CDA-7F1E-4662-912C-1B63FE7CBB16}" type="datetimeFigureOut">
              <a:rPr lang="en-US" smtClean="0"/>
              <a:t>17-Oct-24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46F29-EFEF-5C5C-53D2-D61B93985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85C79-FA8E-2634-A50A-939866818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2CAA4-18BB-42C9-8425-24900DAA4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963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F2339-AA65-E5C4-AF34-2A851BF0B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5D2F2-9199-803B-E552-CAAD640B6A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672923-AD9E-7499-D041-FF3DAF8DE7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DC68D0-195C-97F2-85ED-7EC23C4D6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91CDA-7F1E-4662-912C-1B63FE7CBB16}" type="datetimeFigureOut">
              <a:rPr lang="en-US" smtClean="0"/>
              <a:t>17-Oct-24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E46843-A48C-8FE1-ED46-6ECA39526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20AE8E-6225-9EA2-850A-B1B40990F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2CAA4-18BB-42C9-8425-24900DAA4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185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D3C1D-2CB8-BAFB-31E4-1CB9567C4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785282-1CA1-4450-2279-28F492086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B27507-E2C0-1566-0E9D-333FF1D079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07186A-E1C6-7022-D708-8D0A45B315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FC5C0F-5ABB-2B84-13DD-839A5B9BBE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4EA564-B863-755D-371B-4588CD672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91CDA-7F1E-4662-912C-1B63FE7CBB16}" type="datetimeFigureOut">
              <a:rPr lang="en-US" smtClean="0"/>
              <a:t>17-Oct-24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3E2D9E-37D3-D616-A7E7-436F6E9C1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BF2379-E896-EB11-5B92-E3B4A9FDA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2CAA4-18BB-42C9-8425-24900DAA4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368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9610E-1DFF-2276-F0A6-0D553ED76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59F8B4-4704-E785-46AC-B59193712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91CDA-7F1E-4662-912C-1B63FE7CBB16}" type="datetimeFigureOut">
              <a:rPr lang="en-US" smtClean="0"/>
              <a:t>17-Oct-24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E9F66F-06D1-AFF2-2C25-B20A33152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A54C3-37A3-20C8-E4BA-0FA69CEAA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2CAA4-18BB-42C9-8425-24900DAA4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612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FEADCA-97FD-43A2-A060-0FAF36933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91CDA-7F1E-4662-912C-1B63FE7CBB16}" type="datetimeFigureOut">
              <a:rPr lang="en-US" smtClean="0"/>
              <a:t>17-Oct-24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D3FA60-97A2-E07F-1188-BB7E771FF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1F9CD-EDDF-3478-CC2D-D1F65B9F1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2CAA4-18BB-42C9-8425-24900DAA4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976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DDFF2-65D7-F56A-DD0D-BF4248497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A2A96-6FE1-69D6-C799-44A2CFCC0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A0D54-4C0C-A818-63DC-4B7EDFD23E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95B47-1641-077F-26B0-D12794813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91CDA-7F1E-4662-912C-1B63FE7CBB16}" type="datetimeFigureOut">
              <a:rPr lang="en-US" smtClean="0"/>
              <a:t>17-Oct-24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E3B97-99D9-04B5-376C-623E5ADD0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9B7937-B639-CF97-8C32-839AAF2F2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2CAA4-18BB-42C9-8425-24900DAA4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189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87F6B-441C-A14A-5287-242719B68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F0C3C6-E419-70FF-7A8C-1CE1603EC7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CD2AFE-6A2B-8747-D188-1241868FAD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2FDFD9-F1E0-24B1-B17B-33C5E4B90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91CDA-7F1E-4662-912C-1B63FE7CBB16}" type="datetimeFigureOut">
              <a:rPr lang="en-US" smtClean="0"/>
              <a:t>17-Oct-24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71DE8-C903-1207-8931-B010D7BC9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438A0F-7D56-FF80-1C15-74AF3787C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2CAA4-18BB-42C9-8425-24900DAA4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38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7F099-71C9-F901-9D42-6B6C55AE1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89A1C9-D0E7-AA12-8429-214AB702AF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DB29C-3875-DD1C-946A-422A2B3CA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91CDA-7F1E-4662-912C-1B63FE7CBB16}" type="datetimeFigureOut">
              <a:rPr lang="en-US" smtClean="0"/>
              <a:t>17-Oct-24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CFFBC-1F27-9BE6-4FFD-4CEFF0BE6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D0AB1-EBCC-1819-45C9-08CCEDFFD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2CAA4-18BB-42C9-8425-24900DAA4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088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EA12E4-A56B-0F00-7746-02E2D7D8A1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D4A51-5D3A-B3DC-BAA8-752171CDFF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F8784-9050-D9F9-9D7E-5E37043A5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91CDA-7F1E-4662-912C-1B63FE7CBB16}" type="datetimeFigureOut">
              <a:rPr lang="en-US" smtClean="0"/>
              <a:t>17-Oct-24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9E1C4-F6F5-A929-A77A-41247ED62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6C595-701C-78BF-EBE2-81885A099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2CAA4-18BB-42C9-8425-24900DAA4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423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BECEFE-DB71-DDD9-CF5F-D8FB41EEF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9286F9-1DC4-F82C-EF63-6FBEA1421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1D7CE4-4836-59D7-286B-396D835CF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91CDA-7F1E-4662-912C-1B63FE7CBB16}" type="datetimeFigureOut">
              <a:rPr lang="en-US" smtClean="0"/>
              <a:t>17-Oct-24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063F0-AB52-577A-E8A1-A89A8CE08F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C6FE9-203A-9699-A328-A4DCA7C6D1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2CAA4-18BB-42C9-8425-24900DAA4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496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fafifotography.com/tag/edmonton-food-delivery-services/" TargetMode="Externa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mailto:rp3252154@gmail.com" TargetMode="External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E13E8C-F0DF-F9C9-FBBF-04263D804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b="1" i="1" u="sng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NUTRIFLEX.AI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7C1044-582F-B7D6-49BA-40BBBF4B97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0" y="2333297"/>
            <a:ext cx="4619621" cy="134607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>
                <a:solidFill>
                  <a:schemeClr val="accent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Balanced Nutrition, Better Living!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D62EC19B-9B17-4871-A87C-3B597F056F7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71" r="5682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2CBBAA0-B077-B633-33A8-90965B32047D}"/>
              </a:ext>
            </a:extLst>
          </p:cNvPr>
          <p:cNvSpPr txBox="1"/>
          <p:nvPr/>
        </p:nvSpPr>
        <p:spPr>
          <a:xfrm>
            <a:off x="835152" y="2821668"/>
            <a:ext cx="3853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  <a:latin typeface="Bauhaus 93" panose="04030905020B02020C02" pitchFamily="82" charset="0"/>
              </a:rPr>
              <a:t>Rahul Patil </a:t>
            </a:r>
          </a:p>
        </p:txBody>
      </p:sp>
    </p:spTree>
    <p:extLst>
      <p:ext uri="{BB962C8B-B14F-4D97-AF65-F5344CB8AC3E}">
        <p14:creationId xmlns:p14="http://schemas.microsoft.com/office/powerpoint/2010/main" val="4065851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2.22222E-6 L 3.95833E-6 0.125 C 3.95833E-6 0.18102 0.06901 0.25 0.125 0.25 L 0.25 0.25 " pathEditMode="relative" rAng="0" ptsTypes="AAAA">
                                      <p:cBhvr>
                                        <p:cTn id="6" dur="200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4" presetClass="emph" presetSubtype="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27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28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9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0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1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4" grpId="1"/>
      <p:bldP spid="4" grpId="2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AC51CF-9111-ED7E-AEC6-55E002C5C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EXECUTIVE SUMMARY</a:t>
            </a:r>
            <a:endParaRPr lang="en-US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2C43B-E0E5-8FA6-9FD7-6C9CDB5A8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>
            <a:normAutofit/>
          </a:bodyPr>
          <a:lstStyle/>
          <a:p>
            <a:r>
              <a:rPr lang="en-US" sz="2000" dirty="0" err="1"/>
              <a:t>NUTRIFLEX.Ai</a:t>
            </a:r>
            <a:r>
              <a:rPr lang="en-US" sz="2000" dirty="0"/>
              <a:t> is an AI-driven nutrition assistant designed for personalized meal planning, calorie prediction, and smart recipe recommendations.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Integrates machine learning models for accurate predictions and insights.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Incorporates gamification to engage users and a goal-tracking feature for personalized health management.</a:t>
            </a:r>
          </a:p>
        </p:txBody>
      </p:sp>
      <p:pic>
        <p:nvPicPr>
          <p:cNvPr id="5" name="Picture 4" descr="Blue scheduled pillbox">
            <a:extLst>
              <a:ext uri="{FF2B5EF4-FFF2-40B4-BE49-F238E27FC236}">
                <a16:creationId xmlns:a16="http://schemas.microsoft.com/office/drawing/2014/main" id="{8C21EE97-FA2B-151E-6D1B-61B5A7EBCC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884" r="27164" b="-3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201856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F98851-354C-E621-AA67-AE0E89FC5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D8B99-9832-CC73-CA51-B83E42F47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Features: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BMR and TEE calculation for meal planning.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Calorie content prediction using ML models (Random Forest, </a:t>
            </a:r>
            <a:r>
              <a:rPr lang="en-US" sz="2000" dirty="0" err="1"/>
              <a:t>XGBoost</a:t>
            </a:r>
            <a:r>
              <a:rPr lang="en-US" sz="2000" dirty="0"/>
              <a:t>, Gradient Boosting, </a:t>
            </a:r>
            <a:r>
              <a:rPr lang="en-US" sz="2000" dirty="0" err="1"/>
              <a:t>CatBoost</a:t>
            </a:r>
            <a:r>
              <a:rPr lang="en-US" sz="2000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Traditional and smart recipe suggestions.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Gamification for healthier eating habits.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Health goal tracking with dynamic meal suggestions.</a:t>
            </a:r>
          </a:p>
          <a:p>
            <a:endParaRPr lang="en-US" sz="2000" dirty="0"/>
          </a:p>
        </p:txBody>
      </p:sp>
      <p:pic>
        <p:nvPicPr>
          <p:cNvPr id="5" name="Picture 4" descr="Top view of spices in containers">
            <a:extLst>
              <a:ext uri="{FF2B5EF4-FFF2-40B4-BE49-F238E27FC236}">
                <a16:creationId xmlns:a16="http://schemas.microsoft.com/office/drawing/2014/main" id="{2358DC9B-B00D-2FA5-16F9-76FD6D0CF9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229" r="5538" b="-5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2066953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5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5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5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5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5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5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3" grpI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1B6A37-8C91-E55D-587E-FBCB65142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US" sz="41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TO PERSONALIZED NUTRITION</a:t>
            </a:r>
            <a:endParaRPr lang="en-US" sz="4100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8200E-32C9-FD2A-35E2-4E26C88AE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The Need</a:t>
            </a:r>
            <a:r>
              <a:rPr lang="en-US" sz="2000" dirty="0"/>
              <a:t>: Increasing demand for personalized nutrition to prevent lifestyle-related diseases.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NUTRIFLEX's Solution</a:t>
            </a:r>
            <a:r>
              <a:rPr lang="en-US" sz="2000" dirty="0"/>
              <a:t>: Simplifies nutrition management using AI, combining calorie prediction, meal planning, and recipe recommendations.</a:t>
            </a:r>
          </a:p>
          <a:p>
            <a:endParaRPr lang="en-US" sz="2000" dirty="0"/>
          </a:p>
        </p:txBody>
      </p:sp>
      <p:pic>
        <p:nvPicPr>
          <p:cNvPr id="5" name="Picture 4" descr="Assorted vegetables and fruits">
            <a:extLst>
              <a:ext uri="{FF2B5EF4-FFF2-40B4-BE49-F238E27FC236}">
                <a16:creationId xmlns:a16="http://schemas.microsoft.com/office/drawing/2014/main" id="{FF2C1809-8926-68DE-CB0E-377A8817FA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082" r="15965" b="-3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128249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B61B88-6131-B343-3647-52297F531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BD859-5B6B-5454-7E0A-51DF58520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b="1" u="sng" dirty="0"/>
              <a:t>DATA PREPROCESSING: </a:t>
            </a:r>
          </a:p>
          <a:p>
            <a:r>
              <a:rPr lang="en-US" sz="1700" dirty="0"/>
              <a:t>One-hot encoding of categorical data and scaling of numerical data using </a:t>
            </a:r>
            <a:r>
              <a:rPr lang="en-US" sz="1700" dirty="0" err="1"/>
              <a:t>StandardScaler</a:t>
            </a:r>
            <a:r>
              <a:rPr lang="en-US" sz="1700" dirty="0"/>
              <a:t>.</a:t>
            </a:r>
          </a:p>
          <a:p>
            <a:pPr marL="0" indent="0">
              <a:buNone/>
            </a:pPr>
            <a:r>
              <a:rPr lang="en-US" sz="1700" b="1" u="sng" dirty="0"/>
              <a:t>CALORIE PREDICTION MODELS:</a:t>
            </a:r>
          </a:p>
          <a:p>
            <a:r>
              <a:rPr lang="en-US" sz="1700" dirty="0"/>
              <a:t>Random Forest</a:t>
            </a:r>
          </a:p>
          <a:p>
            <a:r>
              <a:rPr lang="en-US" sz="1700" dirty="0" err="1"/>
              <a:t>XGBoost</a:t>
            </a:r>
            <a:endParaRPr lang="en-US" sz="1700" dirty="0"/>
          </a:p>
          <a:p>
            <a:r>
              <a:rPr lang="en-US" sz="1700" dirty="0"/>
              <a:t>Gradient Boosting</a:t>
            </a:r>
          </a:p>
          <a:p>
            <a:r>
              <a:rPr lang="en-US" sz="1700" dirty="0" err="1"/>
              <a:t>CatBoost</a:t>
            </a:r>
            <a:endParaRPr lang="en-US" sz="1700" dirty="0"/>
          </a:p>
          <a:p>
            <a:pPr marL="0" indent="0">
              <a:buNone/>
            </a:pPr>
            <a:r>
              <a:rPr lang="en-US" sz="1700" b="1" u="sng" dirty="0"/>
              <a:t>BMR AND TEE CALCULATION: MIFFLIN-ST JEOR EQUATION TO GUIDE MEAL RECOMMENDATIONS.</a:t>
            </a:r>
          </a:p>
        </p:txBody>
      </p:sp>
      <p:pic>
        <p:nvPicPr>
          <p:cNvPr id="5" name="Picture 4" descr="Periodic table of elements">
            <a:extLst>
              <a:ext uri="{FF2B5EF4-FFF2-40B4-BE49-F238E27FC236}">
                <a16:creationId xmlns:a16="http://schemas.microsoft.com/office/drawing/2014/main" id="{95CEEE51-DAB5-23BC-FF97-F17D9B208A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486" r="20770" b="225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55892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B43F4E-3539-BF34-6BD0-C7A6F96C6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GAMIFICATION AND REWARDS</a:t>
            </a:r>
            <a:endParaRPr lang="en-US" sz="3700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AF7A2-9D39-A87E-E2E6-EF8B9AA678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0719" y="2330505"/>
            <a:ext cx="4559425" cy="397958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b="1" dirty="0"/>
              <a:t>Food Intake Game: </a:t>
            </a:r>
            <a:r>
              <a:rPr lang="en-US" sz="2000" dirty="0"/>
              <a:t>Users earn points for healthy food choices.</a:t>
            </a:r>
          </a:p>
          <a:p>
            <a:pPr marL="0"/>
            <a:endParaRPr lang="en-US" sz="2000" dirty="0"/>
          </a:p>
          <a:p>
            <a:r>
              <a:rPr lang="en-US" sz="2000" b="1" dirty="0"/>
              <a:t>Goal: </a:t>
            </a:r>
            <a:r>
              <a:rPr lang="en-US" sz="2000" dirty="0"/>
              <a:t>Increase user engagement and promote healthier eating through rewards and achievements.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4902570-9DD7-036E-EBBC-5C0B58B8686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r="21083" b="-1"/>
          <a:stretch/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908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pattern="rectang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1A23C6-4816-B803-C97B-B9AE557BF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RECIPE RECOMMENDATION SYSTEM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73728-BCE3-2C6C-79B8-EB88E99854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0719" y="2330505"/>
            <a:ext cx="5278066" cy="397958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b="1" dirty="0"/>
              <a:t>Traditional Recipes: </a:t>
            </a:r>
            <a:r>
              <a:rPr lang="en-US" sz="2000" dirty="0"/>
              <a:t>Based on calorie thresholds.</a:t>
            </a:r>
          </a:p>
          <a:p>
            <a:pPr marL="0"/>
            <a:endParaRPr lang="en-US" sz="2000" dirty="0"/>
          </a:p>
          <a:p>
            <a:r>
              <a:rPr lang="en-US" sz="2000" b="1" dirty="0"/>
              <a:t>Smart Recipes: </a:t>
            </a:r>
            <a:r>
              <a:rPr lang="en-US" sz="2000" dirty="0"/>
              <a:t>AI-generated based on user input, including calorie targets and macronutrient breakdowns.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D88CC57-E95C-CE6C-C51A-8619582116D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83423" y="664957"/>
            <a:ext cx="4397433" cy="2352626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AB697FD-B9C0-DCC2-E430-36CC4DA8E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0140" y="3707894"/>
            <a:ext cx="2822135" cy="251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0075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28D31E1B-0407-4223-9642-0B642CBF5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67266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B36913-E6DF-7D08-365A-1B1A1EB46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5052369" cy="10357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i="1" u="sng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USER INTERACTION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2D1F3-FE77-F97C-19CF-EC5562D832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5029" y="2524721"/>
            <a:ext cx="4991629" cy="36771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/>
            <a:r>
              <a:rPr lang="en-US" sz="1800" b="1" dirty="0"/>
              <a:t>Simple Interface: </a:t>
            </a:r>
            <a:r>
              <a:rPr lang="en-US" sz="1800" dirty="0"/>
              <a:t>Built with </a:t>
            </a:r>
            <a:r>
              <a:rPr lang="en-US" sz="1800" dirty="0" err="1"/>
              <a:t>Streamlit</a:t>
            </a:r>
            <a:r>
              <a:rPr lang="en-US" sz="1800" dirty="0"/>
              <a:t>, featuring a sidebar for easy navigation.</a:t>
            </a:r>
          </a:p>
          <a:p>
            <a:pPr marL="0"/>
            <a:r>
              <a:rPr lang="en-US" sz="1800" b="1" dirty="0"/>
              <a:t>Sections:</a:t>
            </a:r>
          </a:p>
          <a:p>
            <a:r>
              <a:rPr lang="en-US" sz="1800" dirty="0"/>
              <a:t>Home</a:t>
            </a:r>
          </a:p>
          <a:p>
            <a:r>
              <a:rPr lang="en-US" sz="1800" dirty="0"/>
              <a:t>BMR &amp; TEE Calculator</a:t>
            </a:r>
          </a:p>
          <a:p>
            <a:r>
              <a:rPr lang="en-US" sz="1800" dirty="0"/>
              <a:t>Calorie Prediction</a:t>
            </a:r>
          </a:p>
          <a:p>
            <a:r>
              <a:rPr lang="en-US" sz="1800" dirty="0"/>
              <a:t>Recipe Recommendations</a:t>
            </a:r>
          </a:p>
          <a:p>
            <a:r>
              <a:rPr lang="en-US" sz="1800" dirty="0"/>
              <a:t>Gamification</a:t>
            </a:r>
          </a:p>
          <a:p>
            <a:r>
              <a:rPr lang="en-US" sz="1800" dirty="0"/>
              <a:t>Health Goal Tracking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0E96339-907C-46C3-99AC-31179B6F0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16299" y="608401"/>
            <a:ext cx="4637502" cy="55934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074DDB6-07A1-1249-9B82-B3A220A2FD8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082828" y="901032"/>
            <a:ext cx="1918582" cy="5116220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5512513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8B720E-8F45-E401-5D0B-70ACEBD09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INTEGRATION WITH WEARABLES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630C5-6945-CCAC-CEC7-658502191D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33297"/>
            <a:ext cx="4619621" cy="384366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b="1" dirty="0"/>
              <a:t>Future Plan:</a:t>
            </a:r>
            <a:r>
              <a:rPr lang="en-US" sz="2000" dirty="0"/>
              <a:t> Integrating </a:t>
            </a:r>
            <a:r>
              <a:rPr lang="en-US" sz="2000" dirty="0" err="1"/>
              <a:t>NUTRIFLEX.Ai</a:t>
            </a:r>
            <a:r>
              <a:rPr lang="en-US" sz="2000" dirty="0"/>
              <a:t> with wearable devices for real-time activity tracking and dynamic meal plan adjustments.</a:t>
            </a:r>
          </a:p>
          <a:p>
            <a:pPr marL="0"/>
            <a:endParaRPr lang="en-US" sz="2000" dirty="0"/>
          </a:p>
          <a:p>
            <a:r>
              <a:rPr lang="en-US" sz="2000" b="1" dirty="0"/>
              <a:t>Benefits:</a:t>
            </a:r>
            <a:r>
              <a:rPr lang="en-US" sz="2000" dirty="0"/>
              <a:t> Increased accuracy with real-time activity data.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36B0D1D-487E-3FB2-4D62-FEBDFA37A98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53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48300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ECA6DCB-B7E1-40A9-9524-540C6DA40B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8C48AD-DFF5-BD01-9BB5-67EB1694E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i="1" u="sng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ADDED FEATURES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ADACEEE-499C-A2E1-BCD5-2980550C0A5C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590719" y="2330505"/>
            <a:ext cx="5278066" cy="39795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User-Defined Protein Intake:</a:t>
            </a:r>
            <a:endParaRPr lang="en-US" altLang="en-US" sz="1700" b="0" i="0" u="none" strike="noStrike" cap="none" normalizeH="0" baseline="0" dirty="0">
              <a:ln>
                <a:noFill/>
              </a:ln>
              <a:effectLst/>
              <a:cs typeface="Calibri" panose="020F0502020204030204"/>
            </a:endParaRPr>
          </a:p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Users can set their preferred daily protein intake</a:t>
            </a:r>
            <a:endParaRPr lang="en-US" altLang="en-US" sz="1700" b="0" i="0" u="none" strike="noStrike" cap="none" normalizeH="0" baseline="0" dirty="0">
              <a:ln>
                <a:noFill/>
              </a:ln>
              <a:effectLst/>
              <a:cs typeface="Calibri"/>
            </a:endParaRPr>
          </a:p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effectLst/>
              </a:rPr>
              <a:t>NutriFLEX.Ai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 adjusts meal and recipe recommendations accordingly</a:t>
            </a:r>
            <a:endParaRPr lang="en-US" altLang="en-US" sz="1700" b="0" i="0" u="none" strike="noStrike" cap="none" normalizeH="0" baseline="0" dirty="0">
              <a:ln>
                <a:noFill/>
              </a:ln>
              <a:effectLst/>
              <a:cs typeface="Calibri"/>
            </a:endParaRPr>
          </a:p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Allergy Awareness:</a:t>
            </a:r>
            <a:endParaRPr lang="en-US" altLang="en-US" sz="1700" b="0" i="0" u="none" strike="noStrike" cap="none" normalizeH="0" baseline="0" dirty="0">
              <a:ln>
                <a:noFill/>
              </a:ln>
              <a:effectLst/>
              <a:cs typeface="Calibri" panose="020F0502020204030204"/>
            </a:endParaRPr>
          </a:p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Users can input specific allergens (e.g., gluten, nuts)</a:t>
            </a:r>
            <a:endParaRPr lang="en-US" altLang="en-US" sz="1700" b="0" i="0" u="none" strike="noStrike" cap="none" normalizeH="0" baseline="0" dirty="0">
              <a:ln>
                <a:noFill/>
              </a:ln>
              <a:effectLst/>
              <a:cs typeface="Calibri"/>
            </a:endParaRPr>
          </a:p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effectLst/>
              </a:rPr>
              <a:t>NutriFLEX.Ai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 excludes these allergens in meal suggestions</a:t>
            </a:r>
            <a:endParaRPr lang="en-US" altLang="en-US" sz="1700" b="0" i="0" u="none" strike="noStrike" cap="none" normalizeH="0" baseline="0" dirty="0">
              <a:ln>
                <a:noFill/>
              </a:ln>
              <a:effectLst/>
              <a:cs typeface="Calibri"/>
            </a:endParaRPr>
          </a:p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Smart Health Feature:</a:t>
            </a:r>
            <a:endParaRPr lang="en-US" altLang="en-US" sz="1700" b="0" i="0" u="none" strike="noStrike" cap="none" normalizeH="0" baseline="0" dirty="0">
              <a:ln>
                <a:noFill/>
              </a:ln>
              <a:effectLst/>
              <a:cs typeface="Calibri" panose="020F0502020204030204"/>
            </a:endParaRP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 Mood-Based Meal Suggestions: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</a:endParaRPr>
          </a:p>
          <a:p>
            <a:pPr marL="457200" marR="0" lvl="1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Users can input their mood (happy, stressed, etc.)</a:t>
            </a:r>
            <a:endParaRPr lang="en-US" altLang="en-US" sz="1700" b="0" i="0" u="none" strike="noStrike" cap="none" normalizeH="0" baseline="0" dirty="0">
              <a:ln>
                <a:noFill/>
              </a:ln>
              <a:effectLst/>
              <a:cs typeface="Calibri"/>
            </a:endParaRPr>
          </a:p>
          <a:p>
            <a:pPr marL="457200" marR="0" lvl="1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effectLst/>
              </a:rPr>
              <a:t>NutriFLEX.Ai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 suggests meals to boost mental well-being and health</a:t>
            </a:r>
            <a:endParaRPr lang="en-US" altLang="en-US" sz="1700" b="0" i="0" u="none" strike="noStrike" cap="none" normalizeH="0" baseline="0" dirty="0">
              <a:ln>
                <a:noFill/>
              </a:ln>
              <a:effectLst/>
              <a:cs typeface="Calibri"/>
            </a:endParaRP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5F460A1-4066-77D2-2371-3CC63601CA8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r="2669" b="1"/>
          <a:stretch/>
        </p:blipFill>
        <p:spPr>
          <a:xfrm>
            <a:off x="7083423" y="581892"/>
            <a:ext cx="4397433" cy="2518756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3A364BC-ED19-0FFC-3FF7-49E33801E0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943" b="20907"/>
          <a:stretch/>
        </p:blipFill>
        <p:spPr>
          <a:xfrm>
            <a:off x="7083423" y="3707894"/>
            <a:ext cx="4395569" cy="251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576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ECA6DCB-B7E1-40A9-9524-540C6DA40B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2237BD-C993-3873-1CAE-EAEE493EC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914" y="732789"/>
            <a:ext cx="5279408" cy="11280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i="1" u="sng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GUT BACTERIA ANALYSIS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7576B-D151-4F6C-5A73-60153D3D8F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0719" y="2330505"/>
            <a:ext cx="5278066" cy="39795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Gut Microbiome-Based Recommendations:</a:t>
            </a:r>
            <a:endParaRPr lang="en-US" sz="2000" b="1" dirty="0">
              <a:cs typeface="Calibri" panose="020F0502020204030204"/>
            </a:endParaRPr>
          </a:p>
          <a:p>
            <a:r>
              <a:rPr lang="en-US" sz="2000" b="1" dirty="0"/>
              <a:t>Inputs on Gut Bacteria:</a:t>
            </a:r>
            <a:endParaRPr lang="en-US" sz="2000" dirty="0"/>
          </a:p>
          <a:p>
            <a:pPr marL="742950" lvl="1"/>
            <a:r>
              <a:rPr lang="en-US" sz="2000" dirty="0"/>
              <a:t>Users provide data on their gut microbiome levels (e.g., Lactobacillus, Bifidobacterium)</a:t>
            </a:r>
          </a:p>
          <a:p>
            <a:pPr marL="742950" lvl="1"/>
            <a:r>
              <a:rPr lang="en-US" sz="2000" dirty="0"/>
              <a:t>Information on harmful bacteria (e.g., Clostridium difficile)</a:t>
            </a:r>
          </a:p>
          <a:p>
            <a:r>
              <a:rPr lang="en-US" sz="2000" b="1" dirty="0"/>
              <a:t>Meal Plans to Improve Gut Health:</a:t>
            </a:r>
            <a:endParaRPr lang="en-US" sz="2000" dirty="0"/>
          </a:p>
          <a:p>
            <a:pPr marL="742950" lvl="1"/>
            <a:r>
              <a:rPr lang="en-US" sz="2000" dirty="0"/>
              <a:t>AI generates personalized meal plans to enhance microbial diversity</a:t>
            </a:r>
          </a:p>
          <a:p>
            <a:pPr marL="742950" lvl="1"/>
            <a:r>
              <a:rPr lang="en-US" sz="2000" dirty="0"/>
              <a:t>Focus on reducing harmful bacteria and increasing beneficial bacteria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CEA1DCA-0179-7090-6A56-8BD8C4422DD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t="16923" r="4" b="7215"/>
          <a:stretch/>
        </p:blipFill>
        <p:spPr>
          <a:xfrm>
            <a:off x="7083423" y="581892"/>
            <a:ext cx="4397433" cy="2518756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445F59-2548-78E5-396C-4B1551A777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125" r="3" b="31605"/>
          <a:stretch/>
        </p:blipFill>
        <p:spPr>
          <a:xfrm>
            <a:off x="7083423" y="3707894"/>
            <a:ext cx="4395569" cy="251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227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17A47F-D109-BD74-D732-FE345FF54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VOICE ASSISTANCE FEATURE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C5064-3EAF-8292-65C0-BD3326D12B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33297"/>
            <a:ext cx="4619621" cy="384366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b="1" dirty="0"/>
              <a:t>Upcoming Feature: </a:t>
            </a:r>
            <a:r>
              <a:rPr lang="en-US" sz="2000" dirty="0"/>
              <a:t>Voice command support for hands-free interaction.</a:t>
            </a:r>
          </a:p>
          <a:p>
            <a:pPr marL="0"/>
            <a:endParaRPr lang="en-US" sz="2000" dirty="0"/>
          </a:p>
          <a:p>
            <a:pPr marL="0"/>
            <a:r>
              <a:rPr lang="en-US" sz="2000" b="1" dirty="0"/>
              <a:t>Example Commands:</a:t>
            </a:r>
          </a:p>
          <a:p>
            <a:r>
              <a:rPr lang="en-US" sz="2000" dirty="0"/>
              <a:t>“Calculate my BMR.”</a:t>
            </a:r>
          </a:p>
          <a:p>
            <a:r>
              <a:rPr lang="en-US" sz="2000" dirty="0"/>
              <a:t>“Suggest a 500-calorie recipe.”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9FE9DB8-C539-877E-16E9-9801EB95C6B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1" r="5653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395438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2C7251-45CD-D965-70F4-0F9A1F16F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1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RECIPE INTEGRATION WITH FOOD DELIVERY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977D5-2F64-2384-DEC3-D35F457427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33297"/>
            <a:ext cx="4619621" cy="384366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b="1" dirty="0"/>
              <a:t>Future Plan: </a:t>
            </a:r>
            <a:r>
              <a:rPr lang="en-US" sz="2000" dirty="0"/>
              <a:t>Integration with Zomato, Swiggy to allow users to order ingredients or meals directly from the app.</a:t>
            </a:r>
          </a:p>
          <a:p>
            <a:pPr marL="0"/>
            <a:endParaRPr lang="en-US" sz="2000" dirty="0"/>
          </a:p>
          <a:p>
            <a:r>
              <a:rPr lang="en-US" sz="2000" b="1" dirty="0"/>
              <a:t>Benefits: </a:t>
            </a:r>
            <a:r>
              <a:rPr lang="en-US" sz="2000" dirty="0"/>
              <a:t>Seamless transition from meal planning to execution. More accessible nutrition through delivery services.</a:t>
            </a:r>
          </a:p>
        </p:txBody>
      </p:sp>
      <p:pic>
        <p:nvPicPr>
          <p:cNvPr id="7" name="Content Placeholder 6" descr="A group of logos on a square background&#10;&#10;Description automatically generated">
            <a:extLst>
              <a:ext uri="{FF2B5EF4-FFF2-40B4-BE49-F238E27FC236}">
                <a16:creationId xmlns:a16="http://schemas.microsoft.com/office/drawing/2014/main" id="{6EA6F6AA-9EF2-F7A6-C44F-65C94439895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1627" r="1426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1CDD79E-AEE5-D5FD-BBC1-DE0E208C1B28}"/>
              </a:ext>
            </a:extLst>
          </p:cNvPr>
          <p:cNvSpPr txBox="1"/>
          <p:nvPr/>
        </p:nvSpPr>
        <p:spPr>
          <a:xfrm>
            <a:off x="6586538" y="6176963"/>
            <a:ext cx="4352925" cy="31750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500"/>
              <a:t>ThePhoto by PhotoAuthor is licensed under CCYYSA.</a:t>
            </a:r>
          </a:p>
        </p:txBody>
      </p:sp>
    </p:spTree>
    <p:extLst>
      <p:ext uri="{BB962C8B-B14F-4D97-AF65-F5344CB8AC3E}">
        <p14:creationId xmlns:p14="http://schemas.microsoft.com/office/powerpoint/2010/main" val="57522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3" grpI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4CA61F-7E87-ACFB-2AEB-F36DC9DE7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i="1" u="sng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MODEL PERFORMANCE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0968C-624B-128D-961A-445B8905F1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5066" y="2031101"/>
            <a:ext cx="4282984" cy="35119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/>
            <a:r>
              <a:rPr lang="en-US" sz="1800" b="1" dirty="0"/>
              <a:t>Calorie Prediction Models</a:t>
            </a:r>
            <a:r>
              <a:rPr lang="en-US" sz="1800" dirty="0"/>
              <a:t>:</a:t>
            </a:r>
          </a:p>
          <a:p>
            <a:r>
              <a:rPr lang="en-US" sz="1800" dirty="0"/>
              <a:t>Performance comparison between Random Forest, </a:t>
            </a:r>
            <a:r>
              <a:rPr lang="en-US" sz="1800" dirty="0" err="1"/>
              <a:t>XGBoost</a:t>
            </a:r>
            <a:r>
              <a:rPr lang="en-US" sz="1800" dirty="0"/>
              <a:t>, Gradient Boosting, and </a:t>
            </a:r>
            <a:r>
              <a:rPr lang="en-US" sz="1800" dirty="0" err="1"/>
              <a:t>CatBoost</a:t>
            </a:r>
            <a:r>
              <a:rPr lang="en-US" sz="1800" dirty="0"/>
              <a:t>.</a:t>
            </a:r>
          </a:p>
          <a:p>
            <a:r>
              <a:rPr lang="en-US" sz="1800" dirty="0"/>
              <a:t>Initial tests showed Gradient Boosting as the most accurate, but further tuning is needed.</a:t>
            </a:r>
          </a:p>
          <a:p>
            <a:endParaRPr lang="en-US" sz="18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7BD750-BE33-B966-7464-12CC86AEB1F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87738" y="1870386"/>
            <a:ext cx="5628018" cy="288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7389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9F1FFA9-D672-408C-9220-ADEEC6ABD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A507FB-77CB-8A38-9D45-9D2F12BE5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3816095" cy="19380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i="1" u="sng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USER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B23B7-C26C-F3B4-A258-3EC686A14F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2482589"/>
            <a:ext cx="3816096" cy="369437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b="1" dirty="0"/>
              <a:t>Gamification Enhancements</a:t>
            </a:r>
            <a:r>
              <a:rPr lang="en-US" sz="2000" dirty="0"/>
              <a:t>: Users suggested expanding challenges (e.g., weekly targets, community-based competitions).</a:t>
            </a:r>
          </a:p>
          <a:p>
            <a:pPr marL="0"/>
            <a:endParaRPr lang="en-US" sz="2000" dirty="0"/>
          </a:p>
          <a:p>
            <a:r>
              <a:rPr lang="en-US" sz="2000" b="1" dirty="0"/>
              <a:t>Wearables Integration</a:t>
            </a:r>
            <a:r>
              <a:rPr lang="en-US" sz="2000" dirty="0"/>
              <a:t>: Strong interest in automatic TEE adjustments.</a:t>
            </a:r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1BA17A74-268A-9397-F755-B2CDAB28DD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03" r="-1" b="38304"/>
          <a:stretch/>
        </p:blipFill>
        <p:spPr>
          <a:xfrm>
            <a:off x="4904316" y="-4"/>
            <a:ext cx="7287684" cy="3694372"/>
          </a:xfrm>
          <a:custGeom>
            <a:avLst/>
            <a:gdLst/>
            <a:ahLst/>
            <a:cxnLst/>
            <a:rect l="l" t="t" r="r" b="b"/>
            <a:pathLst>
              <a:path w="7287684" h="3694372">
                <a:moveTo>
                  <a:pt x="1047969" y="0"/>
                </a:moveTo>
                <a:lnTo>
                  <a:pt x="7287684" y="0"/>
                </a:lnTo>
                <a:lnTo>
                  <a:pt x="7287684" y="814388"/>
                </a:lnTo>
                <a:lnTo>
                  <a:pt x="7287684" y="3694372"/>
                </a:lnTo>
                <a:lnTo>
                  <a:pt x="471411" y="3694372"/>
                </a:lnTo>
                <a:lnTo>
                  <a:pt x="470992" y="3686621"/>
                </a:lnTo>
                <a:cubicBezTo>
                  <a:pt x="458999" y="3642419"/>
                  <a:pt x="427907" y="3602236"/>
                  <a:pt x="376383" y="3554015"/>
                </a:cubicBezTo>
                <a:cubicBezTo>
                  <a:pt x="315976" y="3500438"/>
                  <a:pt x="255568" y="3454003"/>
                  <a:pt x="170288" y="3407569"/>
                </a:cubicBezTo>
                <a:cubicBezTo>
                  <a:pt x="365723" y="3382565"/>
                  <a:pt x="163181" y="3296841"/>
                  <a:pt x="230695" y="3243263"/>
                </a:cubicBezTo>
                <a:cubicBezTo>
                  <a:pt x="369276" y="3221831"/>
                  <a:pt x="479431" y="3393282"/>
                  <a:pt x="667759" y="3343275"/>
                </a:cubicBezTo>
                <a:cubicBezTo>
                  <a:pt x="440344" y="3196828"/>
                  <a:pt x="184501" y="3150393"/>
                  <a:pt x="17493" y="2953940"/>
                </a:cubicBezTo>
                <a:cubicBezTo>
                  <a:pt x="56580" y="2911078"/>
                  <a:pt x="95667" y="2953940"/>
                  <a:pt x="127647" y="2936081"/>
                </a:cubicBezTo>
                <a:cubicBezTo>
                  <a:pt x="127647" y="2925365"/>
                  <a:pt x="500751" y="2993232"/>
                  <a:pt x="522071" y="2714625"/>
                </a:cubicBezTo>
                <a:cubicBezTo>
                  <a:pt x="529178" y="2714625"/>
                  <a:pt x="536285" y="2714625"/>
                  <a:pt x="543391" y="2703909"/>
                </a:cubicBezTo>
                <a:cubicBezTo>
                  <a:pt x="582478" y="2664619"/>
                  <a:pt x="546945" y="2571750"/>
                  <a:pt x="610905" y="2564606"/>
                </a:cubicBezTo>
                <a:cubicBezTo>
                  <a:pt x="681973" y="2557462"/>
                  <a:pt x="749487" y="2525315"/>
                  <a:pt x="824107" y="2543175"/>
                </a:cubicBezTo>
                <a:cubicBezTo>
                  <a:pt x="880961" y="2557462"/>
                  <a:pt x="941368" y="2575322"/>
                  <a:pt x="1001776" y="2575322"/>
                </a:cubicBezTo>
                <a:cubicBezTo>
                  <a:pt x="1065736" y="2575322"/>
                  <a:pt x="1154570" y="2696766"/>
                  <a:pt x="1193658" y="2536031"/>
                </a:cubicBezTo>
                <a:cubicBezTo>
                  <a:pt x="1193658" y="2528888"/>
                  <a:pt x="1303812" y="2546747"/>
                  <a:pt x="1364219" y="2553891"/>
                </a:cubicBezTo>
                <a:cubicBezTo>
                  <a:pt x="1413966" y="2561035"/>
                  <a:pt x="1474374" y="2593181"/>
                  <a:pt x="1509907" y="2528888"/>
                </a:cubicBezTo>
                <a:cubicBezTo>
                  <a:pt x="1527674" y="2489596"/>
                  <a:pt x="1442393" y="2418159"/>
                  <a:pt x="1367772" y="2411015"/>
                </a:cubicBezTo>
                <a:cubicBezTo>
                  <a:pt x="1300259" y="2403872"/>
                  <a:pt x="1232745" y="2396728"/>
                  <a:pt x="1168784" y="2411015"/>
                </a:cubicBezTo>
                <a:cubicBezTo>
                  <a:pt x="1090610" y="2428875"/>
                  <a:pt x="1047969" y="2400300"/>
                  <a:pt x="1026649" y="2336007"/>
                </a:cubicBezTo>
                <a:cubicBezTo>
                  <a:pt x="1001776" y="2268141"/>
                  <a:pt x="955582" y="2232422"/>
                  <a:pt x="891621" y="2200275"/>
                </a:cubicBezTo>
                <a:cubicBezTo>
                  <a:pt x="735273" y="2121694"/>
                  <a:pt x="586032" y="2028825"/>
                  <a:pt x="415470" y="1982390"/>
                </a:cubicBezTo>
                <a:cubicBezTo>
                  <a:pt x="383490" y="1975246"/>
                  <a:pt x="344403" y="1960959"/>
                  <a:pt x="330189" y="1900238"/>
                </a:cubicBezTo>
                <a:cubicBezTo>
                  <a:pt x="792127" y="1993106"/>
                  <a:pt x="1211424" y="2232422"/>
                  <a:pt x="1687576" y="2218135"/>
                </a:cubicBezTo>
                <a:cubicBezTo>
                  <a:pt x="1559654" y="2143125"/>
                  <a:pt x="1406860" y="2139554"/>
                  <a:pt x="1268278" y="2085975"/>
                </a:cubicBezTo>
                <a:cubicBezTo>
                  <a:pt x="1367772" y="2046685"/>
                  <a:pt x="1460160" y="2089547"/>
                  <a:pt x="1552548" y="2110978"/>
                </a:cubicBezTo>
                <a:cubicBezTo>
                  <a:pt x="1630722" y="2128837"/>
                  <a:pt x="1701789" y="2132410"/>
                  <a:pt x="1708896" y="2021681"/>
                </a:cubicBezTo>
                <a:cubicBezTo>
                  <a:pt x="1708896" y="2010965"/>
                  <a:pt x="1708896" y="2003821"/>
                  <a:pt x="1708896" y="1993106"/>
                </a:cubicBezTo>
                <a:cubicBezTo>
                  <a:pt x="1680469" y="1946672"/>
                  <a:pt x="1641382" y="1925240"/>
                  <a:pt x="1591635" y="1910953"/>
                </a:cubicBezTo>
                <a:cubicBezTo>
                  <a:pt x="1563208" y="1903809"/>
                  <a:pt x="1524121" y="1889522"/>
                  <a:pt x="1524121" y="1857375"/>
                </a:cubicBezTo>
                <a:cubicBezTo>
                  <a:pt x="1527674" y="1735931"/>
                  <a:pt x="1431733" y="1700212"/>
                  <a:pt x="1339346" y="1664493"/>
                </a:cubicBezTo>
                <a:cubicBezTo>
                  <a:pt x="1389093" y="1603772"/>
                  <a:pt x="1431733" y="1646635"/>
                  <a:pt x="1470820" y="1643062"/>
                </a:cubicBezTo>
                <a:cubicBezTo>
                  <a:pt x="1495694" y="1639491"/>
                  <a:pt x="1520567" y="1635919"/>
                  <a:pt x="1520567" y="1603772"/>
                </a:cubicBezTo>
                <a:cubicBezTo>
                  <a:pt x="1520567" y="1578769"/>
                  <a:pt x="1509907" y="1546622"/>
                  <a:pt x="1485034" y="1546622"/>
                </a:cubicBezTo>
                <a:cubicBezTo>
                  <a:pt x="1328686" y="1543050"/>
                  <a:pt x="1239851" y="1371600"/>
                  <a:pt x="1076396" y="1371600"/>
                </a:cubicBezTo>
                <a:cubicBezTo>
                  <a:pt x="976902" y="1371600"/>
                  <a:pt x="1126144" y="1275159"/>
                  <a:pt x="1044416" y="1235869"/>
                </a:cubicBezTo>
                <a:cubicBezTo>
                  <a:pt x="1026649" y="1225153"/>
                  <a:pt x="1094163" y="1210866"/>
                  <a:pt x="1122590" y="1214437"/>
                </a:cubicBezTo>
                <a:cubicBezTo>
                  <a:pt x="1151017" y="1218009"/>
                  <a:pt x="1175891" y="1243013"/>
                  <a:pt x="1211424" y="1225153"/>
                </a:cubicBezTo>
                <a:cubicBezTo>
                  <a:pt x="1229191" y="1160860"/>
                  <a:pt x="1182997" y="1135856"/>
                  <a:pt x="1140357" y="1117997"/>
                </a:cubicBezTo>
                <a:cubicBezTo>
                  <a:pt x="1047969" y="1075135"/>
                  <a:pt x="955582" y="1025129"/>
                  <a:pt x="852534" y="1010841"/>
                </a:cubicBezTo>
                <a:cubicBezTo>
                  <a:pt x="817001" y="1007269"/>
                  <a:pt x="795680" y="989409"/>
                  <a:pt x="799234" y="953690"/>
                </a:cubicBezTo>
                <a:cubicBezTo>
                  <a:pt x="806340" y="907256"/>
                  <a:pt x="841874" y="921544"/>
                  <a:pt x="870301" y="925115"/>
                </a:cubicBezTo>
                <a:cubicBezTo>
                  <a:pt x="888068" y="928688"/>
                  <a:pt x="905835" y="939403"/>
                  <a:pt x="923602" y="914400"/>
                </a:cubicBezTo>
                <a:cubicBezTo>
                  <a:pt x="611794" y="724198"/>
                  <a:pt x="409919" y="684684"/>
                  <a:pt x="132090" y="589415"/>
                </a:cubicBezTo>
                <a:lnTo>
                  <a:pt x="31922" y="552917"/>
                </a:lnTo>
                <a:lnTo>
                  <a:pt x="26859" y="541335"/>
                </a:lnTo>
                <a:cubicBezTo>
                  <a:pt x="20137" y="534929"/>
                  <a:pt x="8953" y="532232"/>
                  <a:pt x="0" y="527681"/>
                </a:cubicBezTo>
                <a:cubicBezTo>
                  <a:pt x="5969" y="516305"/>
                  <a:pt x="7617" y="502963"/>
                  <a:pt x="17905" y="493550"/>
                </a:cubicBezTo>
                <a:cubicBezTo>
                  <a:pt x="23947" y="488022"/>
                  <a:pt x="35344" y="487159"/>
                  <a:pt x="44763" y="486724"/>
                </a:cubicBezTo>
                <a:lnTo>
                  <a:pt x="165722" y="483650"/>
                </a:lnTo>
                <a:lnTo>
                  <a:pt x="193385" y="498723"/>
                </a:lnTo>
                <a:cubicBezTo>
                  <a:pt x="210263" y="511671"/>
                  <a:pt x="227142" y="525066"/>
                  <a:pt x="315976" y="535781"/>
                </a:cubicBezTo>
                <a:cubicBezTo>
                  <a:pt x="401257" y="546497"/>
                  <a:pt x="479431" y="582216"/>
                  <a:pt x="575372" y="525066"/>
                </a:cubicBezTo>
                <a:cubicBezTo>
                  <a:pt x="639332" y="485775"/>
                  <a:pt x="742380" y="528637"/>
                  <a:pt x="820554" y="560785"/>
                </a:cubicBezTo>
                <a:cubicBezTo>
                  <a:pt x="884515" y="589360"/>
                  <a:pt x="948475" y="596503"/>
                  <a:pt x="1033756" y="560785"/>
                </a:cubicBezTo>
                <a:cubicBezTo>
                  <a:pt x="955582" y="539354"/>
                  <a:pt x="895175" y="521494"/>
                  <a:pt x="834767" y="507206"/>
                </a:cubicBezTo>
                <a:cubicBezTo>
                  <a:pt x="785020" y="496491"/>
                  <a:pt x="756593" y="471488"/>
                  <a:pt x="760147" y="417909"/>
                </a:cubicBezTo>
                <a:cubicBezTo>
                  <a:pt x="760147" y="389334"/>
                  <a:pt x="749487" y="350044"/>
                  <a:pt x="785020" y="335757"/>
                </a:cubicBezTo>
                <a:cubicBezTo>
                  <a:pt x="813447" y="321469"/>
                  <a:pt x="852534" y="335757"/>
                  <a:pt x="866748" y="360759"/>
                </a:cubicBezTo>
                <a:cubicBezTo>
                  <a:pt x="884515" y="407194"/>
                  <a:pt x="902281" y="450056"/>
                  <a:pt x="962689" y="453629"/>
                </a:cubicBezTo>
                <a:cubicBezTo>
                  <a:pt x="1044416" y="460771"/>
                  <a:pt x="998222" y="432197"/>
                  <a:pt x="984009" y="396478"/>
                </a:cubicBezTo>
                <a:cubicBezTo>
                  <a:pt x="969795" y="357188"/>
                  <a:pt x="1012436" y="346472"/>
                  <a:pt x="1040863" y="353615"/>
                </a:cubicBezTo>
                <a:cubicBezTo>
                  <a:pt x="1147464" y="385763"/>
                  <a:pt x="1257618" y="328613"/>
                  <a:pt x="1367772" y="375047"/>
                </a:cubicBezTo>
                <a:cubicBezTo>
                  <a:pt x="1339346" y="260747"/>
                  <a:pt x="1278938" y="210741"/>
                  <a:pt x="1151017" y="192881"/>
                </a:cubicBezTo>
                <a:cubicBezTo>
                  <a:pt x="1104823" y="189310"/>
                  <a:pt x="1055076" y="196453"/>
                  <a:pt x="1012436" y="164306"/>
                </a:cubicBezTo>
                <a:cubicBezTo>
                  <a:pt x="987562" y="146447"/>
                  <a:pt x="962689" y="125016"/>
                  <a:pt x="980456" y="89297"/>
                </a:cubicBezTo>
                <a:cubicBezTo>
                  <a:pt x="991116" y="64294"/>
                  <a:pt x="1019542" y="64294"/>
                  <a:pt x="1044416" y="71437"/>
                </a:cubicBezTo>
                <a:cubicBezTo>
                  <a:pt x="1147464" y="110728"/>
                  <a:pt x="1257618" y="121444"/>
                  <a:pt x="1364219" y="135731"/>
                </a:cubicBezTo>
                <a:cubicBezTo>
                  <a:pt x="1381986" y="139303"/>
                  <a:pt x="1399753" y="146447"/>
                  <a:pt x="1417520" y="110728"/>
                </a:cubicBezTo>
                <a:cubicBezTo>
                  <a:pt x="1293152" y="78581"/>
                  <a:pt x="1172337" y="35719"/>
                  <a:pt x="1047969" y="0"/>
                </a:cubicBezTo>
                <a:close/>
              </a:path>
            </a:pathLst>
          </a:custGeom>
        </p:spPr>
      </p:pic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F773522B-E128-158B-ABCE-CF2294CC43A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b="46556"/>
          <a:stretch/>
        </p:blipFill>
        <p:spPr>
          <a:xfrm>
            <a:off x="4726728" y="3802961"/>
            <a:ext cx="7472381" cy="3055043"/>
          </a:xfrm>
          <a:custGeom>
            <a:avLst/>
            <a:gdLst/>
            <a:ahLst/>
            <a:cxnLst/>
            <a:rect l="l" t="t" r="r" b="b"/>
            <a:pathLst>
              <a:path w="7472381" h="3055043">
                <a:moveTo>
                  <a:pt x="638975" y="0"/>
                </a:moveTo>
                <a:lnTo>
                  <a:pt x="7472381" y="0"/>
                </a:lnTo>
                <a:lnTo>
                  <a:pt x="7472381" y="2579984"/>
                </a:lnTo>
                <a:lnTo>
                  <a:pt x="7472381" y="3055043"/>
                </a:lnTo>
                <a:lnTo>
                  <a:pt x="6992676" y="3055043"/>
                </a:lnTo>
                <a:lnTo>
                  <a:pt x="1946893" y="3055043"/>
                </a:lnTo>
                <a:cubicBezTo>
                  <a:pt x="1801205" y="2983605"/>
                  <a:pt x="1662624" y="2897880"/>
                  <a:pt x="1506276" y="2855018"/>
                </a:cubicBezTo>
                <a:cubicBezTo>
                  <a:pt x="1399675" y="2826443"/>
                  <a:pt x="1296627" y="2776437"/>
                  <a:pt x="1314394" y="2626417"/>
                </a:cubicBezTo>
                <a:cubicBezTo>
                  <a:pt x="1317947" y="2583555"/>
                  <a:pt x="1289520" y="2551409"/>
                  <a:pt x="1246880" y="2562124"/>
                </a:cubicBezTo>
                <a:cubicBezTo>
                  <a:pt x="1165153" y="2583555"/>
                  <a:pt x="1126065" y="2522833"/>
                  <a:pt x="1079872" y="2476399"/>
                </a:cubicBezTo>
                <a:cubicBezTo>
                  <a:pt x="998144" y="2394247"/>
                  <a:pt x="919970" y="2308520"/>
                  <a:pt x="788495" y="2294233"/>
                </a:cubicBezTo>
                <a:cubicBezTo>
                  <a:pt x="813369" y="2229939"/>
                  <a:pt x="856009" y="2237083"/>
                  <a:pt x="895097" y="2251371"/>
                </a:cubicBezTo>
                <a:cubicBezTo>
                  <a:pt x="998144" y="2287090"/>
                  <a:pt x="1101192" y="2326380"/>
                  <a:pt x="1204239" y="2362099"/>
                </a:cubicBezTo>
                <a:cubicBezTo>
                  <a:pt x="1271754" y="2383530"/>
                  <a:pt x="1339267" y="2415677"/>
                  <a:pt x="1428102" y="2390674"/>
                </a:cubicBezTo>
                <a:cubicBezTo>
                  <a:pt x="1349928" y="2262087"/>
                  <a:pt x="1218453" y="2237083"/>
                  <a:pt x="1111852" y="2197793"/>
                </a:cubicBezTo>
                <a:cubicBezTo>
                  <a:pt x="980377" y="2147787"/>
                  <a:pt x="902203" y="2054918"/>
                  <a:pt x="806262" y="1947762"/>
                </a:cubicBezTo>
                <a:cubicBezTo>
                  <a:pt x="902203" y="1919187"/>
                  <a:pt x="962610" y="1997768"/>
                  <a:pt x="1040785" y="1994196"/>
                </a:cubicBezTo>
                <a:cubicBezTo>
                  <a:pt x="1044338" y="1983480"/>
                  <a:pt x="1051445" y="1962049"/>
                  <a:pt x="1051445" y="1962049"/>
                </a:cubicBezTo>
                <a:cubicBezTo>
                  <a:pt x="923523" y="1904899"/>
                  <a:pt x="866670" y="1797743"/>
                  <a:pt x="845349" y="1665583"/>
                </a:cubicBezTo>
                <a:cubicBezTo>
                  <a:pt x="838243" y="1597718"/>
                  <a:pt x="792049" y="1576287"/>
                  <a:pt x="745855" y="1544140"/>
                </a:cubicBezTo>
                <a:cubicBezTo>
                  <a:pt x="589507" y="1433411"/>
                  <a:pt x="422499" y="1333399"/>
                  <a:pt x="291024" y="1183381"/>
                </a:cubicBezTo>
                <a:cubicBezTo>
                  <a:pt x="443819" y="1201239"/>
                  <a:pt x="564633" y="1301252"/>
                  <a:pt x="724535" y="1344115"/>
                </a:cubicBezTo>
                <a:cubicBezTo>
                  <a:pt x="596614" y="1179808"/>
                  <a:pt x="429605" y="1094083"/>
                  <a:pt x="276811" y="994071"/>
                </a:cubicBezTo>
                <a:cubicBezTo>
                  <a:pt x="205743" y="947637"/>
                  <a:pt x="141783" y="890486"/>
                  <a:pt x="60055" y="865484"/>
                </a:cubicBezTo>
                <a:cubicBezTo>
                  <a:pt x="31628" y="858340"/>
                  <a:pt x="-18119" y="840481"/>
                  <a:pt x="6755" y="790474"/>
                </a:cubicBezTo>
                <a:cubicBezTo>
                  <a:pt x="28075" y="747612"/>
                  <a:pt x="67162" y="761900"/>
                  <a:pt x="102696" y="772614"/>
                </a:cubicBezTo>
                <a:cubicBezTo>
                  <a:pt x="187976" y="801190"/>
                  <a:pt x="280364" y="801190"/>
                  <a:pt x="397625" y="801190"/>
                </a:cubicBezTo>
                <a:cubicBezTo>
                  <a:pt x="298131" y="665458"/>
                  <a:pt x="116909" y="708321"/>
                  <a:pt x="31628" y="565446"/>
                </a:cubicBezTo>
                <a:cubicBezTo>
                  <a:pt x="138229" y="540444"/>
                  <a:pt x="219957" y="590450"/>
                  <a:pt x="305237" y="601165"/>
                </a:cubicBezTo>
                <a:cubicBezTo>
                  <a:pt x="383412" y="611881"/>
                  <a:pt x="401178" y="586877"/>
                  <a:pt x="383412" y="508296"/>
                </a:cubicBezTo>
                <a:cubicBezTo>
                  <a:pt x="354985" y="386853"/>
                  <a:pt x="397625" y="326130"/>
                  <a:pt x="511333" y="358278"/>
                </a:cubicBezTo>
                <a:cubicBezTo>
                  <a:pt x="617934" y="390424"/>
                  <a:pt x="628594" y="343990"/>
                  <a:pt x="600167" y="276124"/>
                </a:cubicBezTo>
                <a:cubicBezTo>
                  <a:pt x="557527" y="176112"/>
                  <a:pt x="603720" y="97531"/>
                  <a:pt x="635701" y="118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572017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Sing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A456C8-AD3C-0527-07D1-6D350745E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 i="1" u="sng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FUTURE WORK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19A853-4068-7A6F-2D03-06E90C5DBD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856157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724395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B59A45D-C543-A4C2-AA28-30C6950B7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r>
              <a:rPr lang="en-US" sz="4000" b="1" i="1" u="sng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</a:t>
            </a:r>
          </a:p>
        </p:txBody>
      </p:sp>
      <p:graphicFrame>
        <p:nvGraphicFramePr>
          <p:cNvPr id="10" name="Content Placeholder 7">
            <a:extLst>
              <a:ext uri="{FF2B5EF4-FFF2-40B4-BE49-F238E27FC236}">
                <a16:creationId xmlns:a16="http://schemas.microsoft.com/office/drawing/2014/main" id="{F951746F-8A21-AC3B-B12D-B6A42C70CA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725563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757933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Graphic spid="10" grpId="0">
        <p:bldAsOne/>
      </p:bldGraphic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650F8FF-049C-2DA9-48B7-D028E21E0E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9B1A18-6CBC-CA09-6764-FBBCCF96F865}"/>
              </a:ext>
            </a:extLst>
          </p:cNvPr>
          <p:cNvSpPr txBox="1"/>
          <p:nvPr/>
        </p:nvSpPr>
        <p:spPr>
          <a:xfrm>
            <a:off x="4309178" y="4168928"/>
            <a:ext cx="37846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pperplate Gothic Bold" panose="020E0705020206020404" pitchFamily="34" charset="0"/>
              </a:rPr>
              <a:t>Rahul Patil (NUTRIFLEX.AI)</a:t>
            </a:r>
            <a:endParaRPr lang="en-US" dirty="0">
              <a:latin typeface="Copperplate Gothic Bold" panose="020E0705020206020404" pitchFamily="34" charset="0"/>
              <a:hlinkClick r:id="rId3"/>
            </a:endParaRPr>
          </a:p>
          <a:p>
            <a:pPr algn="ctr"/>
            <a:r>
              <a:rPr lang="en-US" dirty="0">
                <a:latin typeface="Copperplate Gothic Bold" panose="020E0705020206020404" pitchFamily="34" charset="0"/>
                <a:hlinkClick r:id="rId3"/>
              </a:rPr>
              <a:t>rp3252154@gmail.com</a:t>
            </a:r>
            <a:endParaRPr lang="en-US" dirty="0">
              <a:latin typeface="Copperplate Gothic Bold" panose="020E0705020206020404" pitchFamily="34" charset="0"/>
            </a:endParaRPr>
          </a:p>
          <a:p>
            <a:pPr algn="ctr"/>
            <a:r>
              <a:rPr lang="en-US" dirty="0">
                <a:latin typeface="Copperplate Gothic Bold" panose="020E0705020206020404" pitchFamily="34" charset="0"/>
              </a:rPr>
              <a:t>8291216667</a:t>
            </a:r>
          </a:p>
        </p:txBody>
      </p:sp>
    </p:spTree>
    <p:extLst>
      <p:ext uri="{BB962C8B-B14F-4D97-AF65-F5344CB8AC3E}">
        <p14:creationId xmlns:p14="http://schemas.microsoft.com/office/powerpoint/2010/main" val="40373739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678</Words>
  <Application>Microsoft Office PowerPoint</Application>
  <PresentationFormat>Widescreen</PresentationFormat>
  <Paragraphs>96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ADLaM Display</vt:lpstr>
      <vt:lpstr>Arial</vt:lpstr>
      <vt:lpstr>Bauhaus 93</vt:lpstr>
      <vt:lpstr>Calibri</vt:lpstr>
      <vt:lpstr>Calibri Light</vt:lpstr>
      <vt:lpstr>Copperplate Gothic Bold</vt:lpstr>
      <vt:lpstr>Nirmala UI</vt:lpstr>
      <vt:lpstr>Office Theme</vt:lpstr>
      <vt:lpstr>NUTRIFLEX.AI</vt:lpstr>
      <vt:lpstr>EXECUTIVE SUMMARY</vt:lpstr>
      <vt:lpstr>PROJECT OVERVIEW</vt:lpstr>
      <vt:lpstr>INTRODUCTION TO PERSONALIZED NUTRITION</vt:lpstr>
      <vt:lpstr>METHODOLOGY</vt:lpstr>
      <vt:lpstr>GAMIFICATION AND REWARDS</vt:lpstr>
      <vt:lpstr>RECIPE RECOMMENDATION SYSTEM</vt:lpstr>
      <vt:lpstr>USER INTERACTION</vt:lpstr>
      <vt:lpstr>INTEGRATION WITH WEARABLES</vt:lpstr>
      <vt:lpstr>ADDED FEATURES</vt:lpstr>
      <vt:lpstr>GUT BACTERIA ANALYSIS</vt:lpstr>
      <vt:lpstr>VOICE ASSISTANCE FEATURE</vt:lpstr>
      <vt:lpstr>RECIPE INTEGRATION WITH FOOD DELIVERY SERVICES</vt:lpstr>
      <vt:lpstr>MODEL PERFORMANCE</vt:lpstr>
      <vt:lpstr>USER FEEDBACK</vt:lpstr>
      <vt:lpstr>FUTURE WORK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Rahul Patil</dc:creator>
  <cp:lastModifiedBy>Rahul Patil</cp:lastModifiedBy>
  <cp:revision>45</cp:revision>
  <dcterms:created xsi:type="dcterms:W3CDTF">2024-09-26T13:02:05Z</dcterms:created>
  <dcterms:modified xsi:type="dcterms:W3CDTF">2024-10-17T06:29:59Z</dcterms:modified>
</cp:coreProperties>
</file>